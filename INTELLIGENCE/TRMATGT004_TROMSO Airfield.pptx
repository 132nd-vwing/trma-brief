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84" r:id="rId3"/>
    <p:sldId id="258" r:id="rId4"/>
    <p:sldId id="283" r:id="rId5"/>
    <p:sldId id="285" r:id="rId6"/>
    <p:sldId id="264" r:id="rId7"/>
    <p:sldId id="265" r:id="rId8"/>
    <p:sldId id="266" r:id="rId9"/>
    <p:sldId id="269" r:id="rId10"/>
    <p:sldId id="270" r:id="rId11"/>
  </p:sldIdLst>
  <p:sldSz cx="15119350" cy="1069181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368">
          <p15:clr>
            <a:srgbClr val="747775"/>
          </p15:clr>
        </p15:guide>
        <p15:guide id="2" pos="476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E7EAA58-4EDA-4114-B047-75ABB572CC32}">
  <a:tblStyle styleId="{AE7EAA58-4EDA-4114-B047-75ABB572CC3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5EE82D6-AF98-40BB-A63E-5EA55E4C348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6088" autoAdjust="0"/>
    <p:restoredTop sz="94660" autoAdjust="0"/>
  </p:normalViewPr>
  <p:slideViewPr>
    <p:cSldViewPr snapToGrid="0">
      <p:cViewPr>
        <p:scale>
          <a:sx n="106" d="100"/>
          <a:sy n="106" d="100"/>
        </p:scale>
        <p:origin x="-2004" y="192"/>
      </p:cViewPr>
      <p:guideLst>
        <p:guide orient="horz" pos="3368"/>
        <p:guide pos="47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004762" y="685800"/>
            <a:ext cx="4849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e36d61812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e36d61812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xmlns="" id="{A3AA66E6-E106-3443-4530-99447E394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67c7422a4_0_52:notes">
            <a:extLst>
              <a:ext uri="{FF2B5EF4-FFF2-40B4-BE49-F238E27FC236}">
                <a16:creationId xmlns:a16="http://schemas.microsoft.com/office/drawing/2014/main" xmlns="" id="{C7C49293-AE30-18D9-72B6-230A8DFB96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d67c7422a4_0_52:notes">
            <a:extLst>
              <a:ext uri="{FF2B5EF4-FFF2-40B4-BE49-F238E27FC236}">
                <a16:creationId xmlns:a16="http://schemas.microsoft.com/office/drawing/2014/main" xmlns="" id="{B300482E-0BEE-4C23-EEB2-9B47F39E7D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933150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1703bccef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1703bccef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xmlns="" id="{76EDE4C8-44BB-CA71-07E9-B40C33DCC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6b4128d45_0_134:notes">
            <a:extLst>
              <a:ext uri="{FF2B5EF4-FFF2-40B4-BE49-F238E27FC236}">
                <a16:creationId xmlns:a16="http://schemas.microsoft.com/office/drawing/2014/main" xmlns="" id="{A03B3D01-6F30-747E-AFE3-CFB3FE713D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16b4128d45_0_134:notes">
            <a:extLst>
              <a:ext uri="{FF2B5EF4-FFF2-40B4-BE49-F238E27FC236}">
                <a16:creationId xmlns:a16="http://schemas.microsoft.com/office/drawing/2014/main" xmlns="" id="{4E40467E-E9DD-0B46-90E2-0A5B4CAC20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831175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xmlns="" id="{76EDE4C8-44BB-CA71-07E9-B40C33DCC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6b4128d45_0_134:notes">
            <a:extLst>
              <a:ext uri="{FF2B5EF4-FFF2-40B4-BE49-F238E27FC236}">
                <a16:creationId xmlns:a16="http://schemas.microsoft.com/office/drawing/2014/main" xmlns="" id="{A03B3D01-6F30-747E-AFE3-CFB3FE713D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16b4128d45_0_134:notes">
            <a:extLst>
              <a:ext uri="{FF2B5EF4-FFF2-40B4-BE49-F238E27FC236}">
                <a16:creationId xmlns:a16="http://schemas.microsoft.com/office/drawing/2014/main" xmlns="" id="{4E40467E-E9DD-0B46-90E2-0A5B4CAC20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831175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d67c7422a4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d67c7422a4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16b4128d45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16b4128d45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d67c7422a4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d67c7422a4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1703bccef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1703bccef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d67c7422a4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d67c7422a4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515423" y="1547778"/>
            <a:ext cx="14089200" cy="4266900"/>
          </a:xfrm>
          <a:prstGeom prst="rect">
            <a:avLst/>
          </a:prstGeom>
        </p:spPr>
        <p:txBody>
          <a:bodyPr spcFirstLastPara="1" wrap="square" lIns="164125" tIns="164125" rIns="164125" bIns="1641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1pPr>
            <a:lvl2pPr lvl="1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2pPr>
            <a:lvl3pPr lvl="2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3pPr>
            <a:lvl4pPr lvl="3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4pPr>
            <a:lvl5pPr lvl="4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5pPr>
            <a:lvl6pPr lvl="5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6pPr>
            <a:lvl7pPr lvl="6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7pPr>
            <a:lvl8pPr lvl="7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8pPr>
            <a:lvl9pPr lvl="8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15409" y="5891409"/>
            <a:ext cx="14089200" cy="1647600"/>
          </a:xfrm>
          <a:prstGeom prst="rect">
            <a:avLst/>
          </a:prstGeom>
        </p:spPr>
        <p:txBody>
          <a:bodyPr spcFirstLastPara="1" wrap="square" lIns="164125" tIns="164125" rIns="164125" bIns="1641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spcFirstLastPara="1" wrap="square" lIns="164125" tIns="164125" rIns="164125" bIns="1641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515409" y="925091"/>
            <a:ext cx="14089200" cy="1190400"/>
          </a:xfrm>
          <a:prstGeom prst="rect">
            <a:avLst/>
          </a:prstGeom>
        </p:spPr>
        <p:txBody>
          <a:bodyPr spcFirstLastPara="1" wrap="square" lIns="164125" tIns="164125" rIns="164125" bIns="1641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spcFirstLastPara="1" wrap="square" lIns="164125" tIns="164125" rIns="164125" bIns="1641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515409" y="1154948"/>
            <a:ext cx="4643100" cy="1570800"/>
          </a:xfrm>
          <a:prstGeom prst="rect">
            <a:avLst/>
          </a:prstGeom>
        </p:spPr>
        <p:txBody>
          <a:bodyPr spcFirstLastPara="1" wrap="square" lIns="164125" tIns="164125" rIns="164125" bIns="1641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515409" y="2888617"/>
            <a:ext cx="4643100" cy="6609000"/>
          </a:xfrm>
          <a:prstGeom prst="rect">
            <a:avLst/>
          </a:prstGeom>
        </p:spPr>
        <p:txBody>
          <a:bodyPr spcFirstLastPara="1" wrap="square" lIns="164125" tIns="164125" rIns="164125" bIns="164125" anchor="t" anchorCtr="0">
            <a:norm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spcFirstLastPara="1" wrap="square" lIns="164125" tIns="164125" rIns="164125" bIns="1641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810650" y="935745"/>
            <a:ext cx="10529400" cy="8503800"/>
          </a:xfrm>
          <a:prstGeom prst="rect">
            <a:avLst/>
          </a:prstGeom>
        </p:spPr>
        <p:txBody>
          <a:bodyPr spcFirstLastPara="1" wrap="square" lIns="164125" tIns="164125" rIns="164125" bIns="1641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2pPr>
            <a:lvl3pPr lvl="2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3pPr>
            <a:lvl4pPr lvl="3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4pPr>
            <a:lvl5pPr lvl="4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5pPr>
            <a:lvl6pPr lvl="5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6pPr>
            <a:lvl7pPr lvl="6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7pPr>
            <a:lvl8pPr lvl="7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8pPr>
            <a:lvl9pPr lvl="8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spcFirstLastPara="1" wrap="square" lIns="164125" tIns="164125" rIns="164125" bIns="1641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7560000" y="-260"/>
            <a:ext cx="756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64125" tIns="164125" rIns="164125" bIns="164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439016" y="2563450"/>
            <a:ext cx="6688800" cy="3081300"/>
          </a:xfrm>
          <a:prstGeom prst="rect">
            <a:avLst/>
          </a:prstGeom>
        </p:spPr>
        <p:txBody>
          <a:bodyPr spcFirstLastPara="1" wrap="square" lIns="164125" tIns="164125" rIns="164125" bIns="1641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439016" y="5826865"/>
            <a:ext cx="6688800" cy="2567400"/>
          </a:xfrm>
          <a:prstGeom prst="rect">
            <a:avLst/>
          </a:prstGeom>
        </p:spPr>
        <p:txBody>
          <a:bodyPr spcFirstLastPara="1" wrap="square" lIns="164125" tIns="164125" rIns="164125" bIns="1641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167677" y="1505164"/>
            <a:ext cx="6344700" cy="7681200"/>
          </a:xfrm>
          <a:prstGeom prst="rect">
            <a:avLst/>
          </a:prstGeom>
        </p:spPr>
        <p:txBody>
          <a:bodyPr spcFirstLastPara="1" wrap="square" lIns="164125" tIns="164125" rIns="164125" bIns="164125" anchor="ctr" anchorCtr="0">
            <a:normAutofit/>
          </a:bodyPr>
          <a:lstStyle>
            <a:lvl1pPr marL="457200" lvl="0" indent="-431800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marL="914400" lvl="1" indent="-38735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marL="1371600" lvl="2" indent="-38735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marL="1828800" lvl="3" indent="-38735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marL="2286000" lvl="4" indent="-38735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marL="2743200" lvl="5" indent="-38735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marL="3200400" lvl="6" indent="-38735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marL="3657600" lvl="7" indent="-38735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marL="4114800" lvl="8" indent="-38735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spcFirstLastPara="1" wrap="square" lIns="164125" tIns="164125" rIns="164125" bIns="1641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515409" y="8794266"/>
            <a:ext cx="9919200" cy="1257900"/>
          </a:xfrm>
          <a:prstGeom prst="rect">
            <a:avLst/>
          </a:prstGeom>
        </p:spPr>
        <p:txBody>
          <a:bodyPr spcFirstLastPara="1" wrap="square" lIns="164125" tIns="164125" rIns="164125" bIns="1641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spcFirstLastPara="1" wrap="square" lIns="164125" tIns="164125" rIns="164125" bIns="1641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515409" y="2299346"/>
            <a:ext cx="14089200" cy="4081500"/>
          </a:xfrm>
          <a:prstGeom prst="rect">
            <a:avLst/>
          </a:prstGeom>
        </p:spPr>
        <p:txBody>
          <a:bodyPr spcFirstLastPara="1" wrap="square" lIns="164125" tIns="164125" rIns="164125" bIns="1641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515409" y="6552657"/>
            <a:ext cx="14089200" cy="2703900"/>
          </a:xfrm>
          <a:prstGeom prst="rect">
            <a:avLst/>
          </a:prstGeom>
        </p:spPr>
        <p:txBody>
          <a:bodyPr spcFirstLastPara="1" wrap="square" lIns="164125" tIns="164125" rIns="164125" bIns="164125" anchor="t" anchorCtr="0">
            <a:normAutofit/>
          </a:bodyPr>
          <a:lstStyle>
            <a:lvl1pPr marL="457200" lvl="0" indent="-431800" algn="ctr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marL="914400" lvl="1" indent="-38735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marL="1371600" lvl="2" indent="-38735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marL="1828800" lvl="3" indent="-387350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marL="2286000" lvl="4" indent="-38735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marL="2743200" lvl="5" indent="-38735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marL="3200400" lvl="6" indent="-387350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marL="3657600" lvl="7" indent="-38735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marL="4114800" lvl="8" indent="-38735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spcFirstLastPara="1" wrap="square" lIns="164125" tIns="164125" rIns="164125" bIns="1641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spcFirstLastPara="1" wrap="square" lIns="164125" tIns="164125" rIns="164125" bIns="1641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15409" y="925091"/>
            <a:ext cx="140892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4125" tIns="164125" rIns="164125" bIns="1641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15409" y="2395696"/>
            <a:ext cx="140892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4125" tIns="164125" rIns="164125" bIns="164125" anchor="t" anchorCtr="0">
            <a:normAutofit/>
          </a:bodyPr>
          <a:lstStyle>
            <a:lvl1pPr marL="457200" lvl="0" indent="-431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●"/>
              <a:defRPr sz="3200">
                <a:solidFill>
                  <a:schemeClr val="dk2"/>
                </a:solidFill>
              </a:defRPr>
            </a:lvl1pPr>
            <a:lvl2pPr marL="914400" lvl="1" indent="-3873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2pPr>
            <a:lvl3pPr marL="1371600" lvl="2" indent="-3873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3pPr>
            <a:lvl4pPr marL="1828800" lvl="3" indent="-3873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●"/>
              <a:defRPr sz="2500">
                <a:solidFill>
                  <a:schemeClr val="dk2"/>
                </a:solidFill>
              </a:defRPr>
            </a:lvl4pPr>
            <a:lvl5pPr marL="2286000" lvl="4" indent="-3873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5pPr>
            <a:lvl6pPr marL="2743200" lvl="5" indent="-3873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6pPr>
            <a:lvl7pPr marL="3200400" lvl="6" indent="-3873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●"/>
              <a:defRPr sz="2500">
                <a:solidFill>
                  <a:schemeClr val="dk2"/>
                </a:solidFill>
              </a:defRPr>
            </a:lvl7pPr>
            <a:lvl8pPr marL="3657600" lvl="7" indent="-3873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8pPr>
            <a:lvl9pPr marL="4114800" lvl="8" indent="-3873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4125" tIns="164125" rIns="164125" bIns="164125" anchor="ctr" anchorCtr="0">
            <a:normAutofit/>
          </a:bodyPr>
          <a:lstStyle>
            <a:lvl1pPr lvl="0" algn="r">
              <a:buNone/>
              <a:defRPr sz="1800">
                <a:solidFill>
                  <a:schemeClr val="dk2"/>
                </a:solidFill>
              </a:defRPr>
            </a:lvl1pPr>
            <a:lvl2pPr lvl="1" algn="r">
              <a:buNone/>
              <a:defRPr sz="1800">
                <a:solidFill>
                  <a:schemeClr val="dk2"/>
                </a:solidFill>
              </a:defRPr>
            </a:lvl2pPr>
            <a:lvl3pPr lvl="2" algn="r">
              <a:buNone/>
              <a:defRPr sz="1800">
                <a:solidFill>
                  <a:schemeClr val="dk2"/>
                </a:solidFill>
              </a:defRPr>
            </a:lvl3pPr>
            <a:lvl4pPr lvl="3" algn="r">
              <a:buNone/>
              <a:defRPr sz="1800">
                <a:solidFill>
                  <a:schemeClr val="dk2"/>
                </a:solidFill>
              </a:defRPr>
            </a:lvl4pPr>
            <a:lvl5pPr lvl="4" algn="r">
              <a:buNone/>
              <a:defRPr sz="1800">
                <a:solidFill>
                  <a:schemeClr val="dk2"/>
                </a:solidFill>
              </a:defRPr>
            </a:lvl5pPr>
            <a:lvl6pPr lvl="5" algn="r">
              <a:buNone/>
              <a:defRPr sz="1800">
                <a:solidFill>
                  <a:schemeClr val="dk2"/>
                </a:solidFill>
              </a:defRPr>
            </a:lvl6pPr>
            <a:lvl7pPr lvl="6" algn="r">
              <a:buNone/>
              <a:defRPr sz="1800">
                <a:solidFill>
                  <a:schemeClr val="dk2"/>
                </a:solidFill>
              </a:defRPr>
            </a:lvl7pPr>
            <a:lvl8pPr lvl="7" algn="r">
              <a:buNone/>
              <a:defRPr sz="1800">
                <a:solidFill>
                  <a:schemeClr val="dk2"/>
                </a:solidFill>
              </a:defRPr>
            </a:lvl8pPr>
            <a:lvl9pPr lvl="8" algn="r">
              <a:buNone/>
              <a:defRPr sz="18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482600" y="2861100"/>
            <a:ext cx="12154800" cy="4969800"/>
          </a:xfrm>
          <a:prstGeom prst="rect">
            <a:avLst/>
          </a:prstGeom>
          <a:solidFill>
            <a:schemeClr val="lt1"/>
          </a:solidFill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285750" dir="27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4125" tIns="164125" rIns="164125" bIns="1641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0" b="1" dirty="0"/>
              <a:t>TARGET FOLDER</a:t>
            </a:r>
            <a:endParaRPr sz="4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dirty="0" smtClean="0"/>
              <a:t>TRMATG</a:t>
            </a:r>
            <a:r>
              <a:rPr lang="en-GB" sz="4000" dirty="0" smtClean="0"/>
              <a:t>T004 </a:t>
            </a:r>
            <a:endParaRPr lang="en-GB" sz="4000" dirty="0" smtClean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dirty="0" smtClean="0"/>
              <a:t>TROMSØ Airfield</a:t>
            </a:r>
            <a:r>
              <a:rPr lang="fr" sz="4000" dirty="0" smtClean="0"/>
              <a:t>, REDLAND</a:t>
            </a:r>
            <a:endParaRPr sz="4000" dirty="0"/>
          </a:p>
        </p:txBody>
      </p:sp>
      <p:sp>
        <p:nvSpPr>
          <p:cNvPr id="55" name="Google Shape;55;p13"/>
          <p:cNvSpPr txBox="1"/>
          <p:nvPr/>
        </p:nvSpPr>
        <p:spPr>
          <a:xfrm>
            <a:off x="5966700" y="9901750"/>
            <a:ext cx="3186600" cy="614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FF0000"/>
                </a:solidFill>
              </a:rPr>
              <a:t>SECRET - DCS WORLD</a:t>
            </a:r>
            <a:endParaRPr b="1">
              <a:solidFill>
                <a:srgbClr val="FF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FF0000"/>
                </a:solidFill>
              </a:rPr>
              <a:t> REL TO COALITION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966700" y="175850"/>
            <a:ext cx="3186600" cy="614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 dirty="0">
                <a:solidFill>
                  <a:srgbClr val="FF0000"/>
                </a:solidFill>
              </a:rPr>
              <a:t>SECRET - DCS WORLD</a:t>
            </a:r>
            <a:endParaRPr b="1" dirty="0">
              <a:solidFill>
                <a:srgbClr val="FF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 dirty="0">
                <a:solidFill>
                  <a:srgbClr val="FF0000"/>
                </a:solidFill>
              </a:rPr>
              <a:t> REL TO COALITION</a:t>
            </a:r>
            <a:endParaRPr b="1" dirty="0">
              <a:solidFill>
                <a:srgbClr val="FF0000"/>
              </a:solidFill>
            </a:endParaRPr>
          </a:p>
        </p:txBody>
      </p:sp>
      <p:pic>
        <p:nvPicPr>
          <p:cNvPr id="2" name="Picture 1" descr="D:\GIT PROJECTS\OPAT-background\Virtual Intelligence Service only logo.PNG">
            <a:extLst>
              <a:ext uri="{FF2B5EF4-FFF2-40B4-BE49-F238E27FC236}">
                <a16:creationId xmlns:a16="http://schemas.microsoft.com/office/drawing/2014/main" xmlns="" id="{C90FA22A-E766-0A6E-9693-C7210401D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8686" y="21695"/>
            <a:ext cx="2225675" cy="19589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xmlns="" id="{11395FE8-9CDE-A924-43F9-864FB9C64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 b="13590"/>
          <a:stretch>
            <a:fillRect/>
          </a:stretch>
        </p:blipFill>
        <p:spPr bwMode="auto">
          <a:xfrm>
            <a:off x="0" y="1951629"/>
            <a:ext cx="15119350" cy="8740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D390C5E5-D36A-CBEA-32ED-B2A836E78135}"/>
              </a:ext>
            </a:extLst>
          </p:cNvPr>
          <p:cNvSpPr/>
          <p:nvPr/>
        </p:nvSpPr>
        <p:spPr>
          <a:xfrm>
            <a:off x="0" y="1616"/>
            <a:ext cx="15119350" cy="19199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/>
              <a:t>BE: SRNTGT101  CATCODE: 54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/>
              <a:t>MIDB GEO: N 69 03.636 E 033 26.451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/>
              <a:t>ICOD: 05JAN2024 DOI:05JAN2024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4C06A7CC-5929-7D14-52C6-03D8250DEAD7}"/>
              </a:ext>
            </a:extLst>
          </p:cNvPr>
          <p:cNvSpPr txBox="1"/>
          <p:nvPr/>
        </p:nvSpPr>
        <p:spPr>
          <a:xfrm>
            <a:off x="9114792" y="556201"/>
            <a:ext cx="22325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/>
              <a:t>MAP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/>
              <a:t>OVERVIEW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xmlns="" id="{E4E81F92-CE40-2660-2728-5A7A7D40CC86}"/>
              </a:ext>
            </a:extLst>
          </p:cNvPr>
          <p:cNvGrpSpPr/>
          <p:nvPr/>
        </p:nvGrpSpPr>
        <p:grpSpPr>
          <a:xfrm>
            <a:off x="1" y="0"/>
            <a:ext cx="15119349" cy="1921524"/>
            <a:chOff x="1" y="-1616"/>
            <a:chExt cx="15119349" cy="1921524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xmlns="" id="{0B9C2190-864B-0DEC-8199-ACF811A166F7}"/>
                </a:ext>
              </a:extLst>
            </p:cNvPr>
            <p:cNvSpPr/>
            <p:nvPr/>
          </p:nvSpPr>
          <p:spPr>
            <a:xfrm>
              <a:off x="2447778" y="0"/>
              <a:ext cx="6668087" cy="78779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xmlns="" id="{54F08FFC-DF8B-74C1-603B-50D0373C2DF4}"/>
                </a:ext>
              </a:extLst>
            </p:cNvPr>
            <p:cNvSpPr/>
            <p:nvPr/>
          </p:nvSpPr>
          <p:spPr>
            <a:xfrm>
              <a:off x="2447567" y="787791"/>
              <a:ext cx="6668087" cy="11321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xmlns="" id="{2776D092-2DB3-70B0-F997-4DB5AF312A17}"/>
                </a:ext>
              </a:extLst>
            </p:cNvPr>
            <p:cNvSpPr/>
            <p:nvPr/>
          </p:nvSpPr>
          <p:spPr>
            <a:xfrm>
              <a:off x="9115654" y="0"/>
              <a:ext cx="2251041" cy="19199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xmlns="" id="{A9CAC8C3-CF8F-BBE9-CD06-65275DEFF54D}"/>
                </a:ext>
              </a:extLst>
            </p:cNvPr>
            <p:cNvSpPr/>
            <p:nvPr/>
          </p:nvSpPr>
          <p:spPr>
            <a:xfrm>
              <a:off x="11366695" y="-1616"/>
              <a:ext cx="3752655" cy="78779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xmlns="" id="{2FDAA1E2-8269-1305-C1BF-43FEFEFE5F74}"/>
                </a:ext>
              </a:extLst>
            </p:cNvPr>
            <p:cNvSpPr/>
            <p:nvPr/>
          </p:nvSpPr>
          <p:spPr>
            <a:xfrm>
              <a:off x="11366694" y="786175"/>
              <a:ext cx="3752655" cy="11337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xmlns="" id="{E1543EC9-57A0-97C9-EDA2-D5C756D0A4E4}"/>
                </a:ext>
              </a:extLst>
            </p:cNvPr>
            <p:cNvSpPr/>
            <p:nvPr/>
          </p:nvSpPr>
          <p:spPr>
            <a:xfrm>
              <a:off x="1" y="0"/>
              <a:ext cx="2446916" cy="19199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B8063C59-EC03-9252-81F5-2F64399198CC}"/>
              </a:ext>
            </a:extLst>
          </p:cNvPr>
          <p:cNvSpPr txBox="1"/>
          <p:nvPr/>
        </p:nvSpPr>
        <p:spPr>
          <a:xfrm>
            <a:off x="2446917" y="21481"/>
            <a:ext cx="66504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GB" sz="2000" b="1" dirty="0" smtClean="0"/>
              <a:t>TROMSØ Airfield, REDLAND</a:t>
            </a:r>
            <a:endParaRPr lang="en-GB" sz="20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4175C578-F9C7-87E1-06E3-7EBEB69A4A2A}"/>
              </a:ext>
            </a:extLst>
          </p:cNvPr>
          <p:cNvSpPr txBox="1"/>
          <p:nvPr/>
        </p:nvSpPr>
        <p:spPr>
          <a:xfrm>
            <a:off x="2429057" y="945322"/>
            <a:ext cx="3621504" cy="78483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/>
              <a:t>BE: </a:t>
            </a:r>
            <a:r>
              <a:rPr lang="en-GB" sz="1500" b="1" dirty="0" smtClean="0"/>
              <a:t>TRMATGT004  </a:t>
            </a:r>
            <a:r>
              <a:rPr lang="en-GB" sz="1500" b="1" dirty="0"/>
              <a:t>CATCODE: </a:t>
            </a:r>
            <a:r>
              <a:rPr lang="en-GB" sz="1500" b="1" dirty="0" smtClean="0"/>
              <a:t>3</a:t>
            </a:r>
            <a:endParaRPr lang="en-GB" sz="1500" b="1" dirty="0"/>
          </a:p>
          <a:p>
            <a:pPr lvl="0"/>
            <a:r>
              <a:rPr lang="en-GB" sz="1500" b="1" dirty="0" smtClean="0"/>
              <a:t>MIDB GEO: </a:t>
            </a:r>
            <a:r>
              <a:rPr lang="pt-BR" sz="1500" b="1" dirty="0" smtClean="0"/>
              <a:t>N69˚40.800 E018˚55.800</a:t>
            </a:r>
            <a:endParaRPr lang="en-GB" sz="1500" b="1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 smtClean="0"/>
              <a:t>ICOD</a:t>
            </a:r>
            <a:r>
              <a:rPr lang="en-GB" sz="1500" b="1" dirty="0"/>
              <a:t>: 2011-JUL-06 DOI:2011-JUL-06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B61ACEF9-19E2-8F14-0800-F631D012616A}"/>
              </a:ext>
            </a:extLst>
          </p:cNvPr>
          <p:cNvSpPr txBox="1"/>
          <p:nvPr/>
        </p:nvSpPr>
        <p:spPr>
          <a:xfrm>
            <a:off x="11364760" y="79905"/>
            <a:ext cx="37526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GB" sz="2000" b="1" dirty="0" smtClean="0"/>
              <a:t>TRMA CLASSIFIED</a:t>
            </a:r>
            <a:br>
              <a:rPr lang="en-GB" sz="2000" b="1" dirty="0" smtClean="0"/>
            </a:br>
            <a:r>
              <a:rPr lang="en-GB" sz="2000" b="1" dirty="0" smtClean="0"/>
              <a:t>REL TO 132nd</a:t>
            </a:r>
            <a:endParaRPr lang="en-GB" sz="20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1CC62957-15C4-B564-F2C9-F6947749D6CC}"/>
              </a:ext>
            </a:extLst>
          </p:cNvPr>
          <p:cNvSpPr txBox="1"/>
          <p:nvPr/>
        </p:nvSpPr>
        <p:spPr>
          <a:xfrm>
            <a:off x="11347323" y="1112228"/>
            <a:ext cx="3770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/>
              <a:t>DECL ON: 2061-JUL-06</a:t>
            </a:r>
          </a:p>
        </p:txBody>
      </p:sp>
      <p:pic>
        <p:nvPicPr>
          <p:cNvPr id="2" name="Picture 1" descr="D:\GIT PROJECTS\OPAT-background\Virtual Intelligence Service only logo.PNG">
            <a:extLst>
              <a:ext uri="{FF2B5EF4-FFF2-40B4-BE49-F238E27FC236}">
                <a16:creationId xmlns:a16="http://schemas.microsoft.com/office/drawing/2014/main" xmlns="" id="{B3177879-1ED9-FEDD-F30E-C9176630E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8686" y="21695"/>
            <a:ext cx="2225675" cy="1958975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131311" y="19456"/>
            <a:ext cx="2220868" cy="189742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xmlns="" id="{05D4DC11-14B0-52A2-7326-ECF9911AD552}"/>
              </a:ext>
            </a:extLst>
          </p:cNvPr>
          <p:cNvSpPr txBox="1"/>
          <p:nvPr/>
        </p:nvSpPr>
        <p:spPr>
          <a:xfrm>
            <a:off x="3680906" y="4227359"/>
            <a:ext cx="1869900" cy="89408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 b="1" dirty="0" smtClean="0"/>
              <a:t>TROMSØ Airfield</a:t>
            </a:r>
            <a:r>
              <a:rPr lang="en-GB" b="1" dirty="0">
                <a:solidFill>
                  <a:schemeClr val="dk1"/>
                </a:solidFill>
              </a:rPr>
              <a:t/>
            </a:r>
            <a:br>
              <a:rPr lang="en-GB" b="1" dirty="0">
                <a:solidFill>
                  <a:schemeClr val="dk1"/>
                </a:solidFill>
              </a:rPr>
            </a:br>
            <a:r>
              <a:rPr lang="en-GB" b="1" dirty="0" smtClean="0">
                <a:solidFill>
                  <a:schemeClr val="dk1"/>
                </a:solidFill>
              </a:rPr>
              <a:t>TRMATGT004</a:t>
            </a:r>
            <a:endParaRPr b="1" dirty="0">
              <a:solidFill>
                <a:schemeClr val="dk1"/>
              </a:solidFill>
            </a:endParaRPr>
          </a:p>
        </p:txBody>
      </p:sp>
      <p:cxnSp>
        <p:nvCxnSpPr>
          <p:cNvPr id="68" name="Google Shape;68;p14">
            <a:extLst>
              <a:ext uri="{FF2B5EF4-FFF2-40B4-BE49-F238E27FC236}">
                <a16:creationId xmlns:a16="http://schemas.microsoft.com/office/drawing/2014/main" xmlns="" id="{285C59AC-2C9E-EC0B-ABFB-DDE5A11701B5}"/>
              </a:ext>
            </a:extLst>
          </p:cNvPr>
          <p:cNvCxnSpPr>
            <a:cxnSpLocks/>
            <a:stCxn id="69" idx="1"/>
            <a:endCxn id="67" idx="2"/>
          </p:cNvCxnSpPr>
          <p:nvPr/>
        </p:nvCxnSpPr>
        <p:spPr>
          <a:xfrm rot="10800000">
            <a:off x="4615857" y="5121440"/>
            <a:ext cx="3091365" cy="1783943"/>
          </a:xfrm>
          <a:prstGeom prst="straightConnector1">
            <a:avLst/>
          </a:pr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" name="Google Shape;69;p14">
            <a:extLst>
              <a:ext uri="{FF2B5EF4-FFF2-40B4-BE49-F238E27FC236}">
                <a16:creationId xmlns:a16="http://schemas.microsoft.com/office/drawing/2014/main" xmlns="" id="{DC525267-033D-F1A3-F59C-4A85D11B44FF}"/>
              </a:ext>
            </a:extLst>
          </p:cNvPr>
          <p:cNvSpPr/>
          <p:nvPr/>
        </p:nvSpPr>
        <p:spPr>
          <a:xfrm>
            <a:off x="7707221" y="6545382"/>
            <a:ext cx="720000" cy="720000"/>
          </a:xfrm>
          <a:prstGeom prst="plus">
            <a:avLst>
              <a:gd name="adj" fmla="val 40260"/>
            </a:avLst>
          </a:prstGeom>
          <a:noFill/>
          <a:ln w="2857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12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>
                <a:solidFill>
                  <a:schemeClr val="dk1"/>
                </a:solidFill>
              </a:rPr>
              <a:t>.</a:t>
            </a:r>
            <a:endParaRPr sz="2000" b="1">
              <a:solidFill>
                <a:schemeClr val="dk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5FD214AD-6369-B5BC-470F-242F52F2E4E4}"/>
              </a:ext>
            </a:extLst>
          </p:cNvPr>
          <p:cNvSpPr txBox="1"/>
          <p:nvPr/>
        </p:nvSpPr>
        <p:spPr>
          <a:xfrm>
            <a:off x="2435296" y="356146"/>
            <a:ext cx="50953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/>
              <a:t>JOINT OPERATIONS GRAPHIC</a:t>
            </a:r>
            <a:r>
              <a:rPr lang="en-GB" sz="2000" b="1" dirty="0">
                <a:solidFill>
                  <a:schemeClr val="dk1"/>
                </a:solidFill>
              </a:rPr>
              <a:t> 1/1</a:t>
            </a:r>
            <a:endParaRPr lang="en-GB" sz="2000" b="1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545B7388-7FCE-EA7B-A61E-FA1A1582EB6D}"/>
              </a:ext>
            </a:extLst>
          </p:cNvPr>
          <p:cNvGrpSpPr/>
          <p:nvPr/>
        </p:nvGrpSpPr>
        <p:grpSpPr>
          <a:xfrm>
            <a:off x="14195180" y="2629410"/>
            <a:ext cx="559046" cy="692832"/>
            <a:chOff x="15526400" y="3343535"/>
            <a:chExt cx="1172983" cy="132452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xmlns="" id="{543A472D-07A9-1AA8-2B0D-9D235EA5043F}"/>
                </a:ext>
              </a:extLst>
            </p:cNvPr>
            <p:cNvSpPr/>
            <p:nvPr/>
          </p:nvSpPr>
          <p:spPr>
            <a:xfrm>
              <a:off x="15526400" y="3343535"/>
              <a:ext cx="1172983" cy="1324523"/>
            </a:xfrm>
            <a:custGeom>
              <a:avLst/>
              <a:gdLst>
                <a:gd name="connsiteX0" fmla="*/ 351692 w 731520"/>
                <a:gd name="connsiteY0" fmla="*/ 0 h 858129"/>
                <a:gd name="connsiteX1" fmla="*/ 0 w 731520"/>
                <a:gd name="connsiteY1" fmla="*/ 858129 h 858129"/>
                <a:gd name="connsiteX2" fmla="*/ 337624 w 731520"/>
                <a:gd name="connsiteY2" fmla="*/ 647114 h 858129"/>
                <a:gd name="connsiteX3" fmla="*/ 731520 w 731520"/>
                <a:gd name="connsiteY3" fmla="*/ 844061 h 858129"/>
                <a:gd name="connsiteX4" fmla="*/ 351692 w 731520"/>
                <a:gd name="connsiteY4" fmla="*/ 0 h 858129"/>
                <a:gd name="connsiteX0" fmla="*/ 394761 w 731520"/>
                <a:gd name="connsiteY0" fmla="*/ 0 h 992212"/>
                <a:gd name="connsiteX1" fmla="*/ 0 w 731520"/>
                <a:gd name="connsiteY1" fmla="*/ 992212 h 992212"/>
                <a:gd name="connsiteX2" fmla="*/ 337624 w 731520"/>
                <a:gd name="connsiteY2" fmla="*/ 781197 h 992212"/>
                <a:gd name="connsiteX3" fmla="*/ 731520 w 731520"/>
                <a:gd name="connsiteY3" fmla="*/ 978144 h 992212"/>
                <a:gd name="connsiteX4" fmla="*/ 394761 w 731520"/>
                <a:gd name="connsiteY4" fmla="*/ 0 h 992212"/>
                <a:gd name="connsiteX0" fmla="*/ 383994 w 731520"/>
                <a:gd name="connsiteY0" fmla="*/ 0 h 992212"/>
                <a:gd name="connsiteX1" fmla="*/ 0 w 731520"/>
                <a:gd name="connsiteY1" fmla="*/ 992212 h 992212"/>
                <a:gd name="connsiteX2" fmla="*/ 337624 w 731520"/>
                <a:gd name="connsiteY2" fmla="*/ 781197 h 992212"/>
                <a:gd name="connsiteX3" fmla="*/ 731520 w 731520"/>
                <a:gd name="connsiteY3" fmla="*/ 978144 h 992212"/>
                <a:gd name="connsiteX4" fmla="*/ 383994 w 731520"/>
                <a:gd name="connsiteY4" fmla="*/ 0 h 992212"/>
                <a:gd name="connsiteX0" fmla="*/ 383994 w 957635"/>
                <a:gd name="connsiteY0" fmla="*/ 0 h 1313351"/>
                <a:gd name="connsiteX1" fmla="*/ 0 w 957635"/>
                <a:gd name="connsiteY1" fmla="*/ 992212 h 1313351"/>
                <a:gd name="connsiteX2" fmla="*/ 337624 w 957635"/>
                <a:gd name="connsiteY2" fmla="*/ 781197 h 1313351"/>
                <a:gd name="connsiteX3" fmla="*/ 957635 w 957635"/>
                <a:gd name="connsiteY3" fmla="*/ 1313351 h 1313351"/>
                <a:gd name="connsiteX4" fmla="*/ 383994 w 957635"/>
                <a:gd name="connsiteY4" fmla="*/ 0 h 1313351"/>
                <a:gd name="connsiteX0" fmla="*/ 599342 w 1172983"/>
                <a:gd name="connsiteY0" fmla="*/ 0 h 1313351"/>
                <a:gd name="connsiteX1" fmla="*/ 0 w 1172983"/>
                <a:gd name="connsiteY1" fmla="*/ 1305071 h 1313351"/>
                <a:gd name="connsiteX2" fmla="*/ 552972 w 1172983"/>
                <a:gd name="connsiteY2" fmla="*/ 781197 h 1313351"/>
                <a:gd name="connsiteX3" fmla="*/ 1172983 w 1172983"/>
                <a:gd name="connsiteY3" fmla="*/ 1313351 h 1313351"/>
                <a:gd name="connsiteX4" fmla="*/ 599342 w 1172983"/>
                <a:gd name="connsiteY4" fmla="*/ 0 h 1313351"/>
                <a:gd name="connsiteX0" fmla="*/ 599342 w 1172983"/>
                <a:gd name="connsiteY0" fmla="*/ 0 h 1313351"/>
                <a:gd name="connsiteX1" fmla="*/ 0 w 1172983"/>
                <a:gd name="connsiteY1" fmla="*/ 1305071 h 1313351"/>
                <a:gd name="connsiteX2" fmla="*/ 574507 w 1172983"/>
                <a:gd name="connsiteY2" fmla="*/ 982322 h 1313351"/>
                <a:gd name="connsiteX3" fmla="*/ 1172983 w 1172983"/>
                <a:gd name="connsiteY3" fmla="*/ 1313351 h 1313351"/>
                <a:gd name="connsiteX4" fmla="*/ 599342 w 1172983"/>
                <a:gd name="connsiteY4" fmla="*/ 0 h 1313351"/>
                <a:gd name="connsiteX0" fmla="*/ 599342 w 1172983"/>
                <a:gd name="connsiteY0" fmla="*/ 0 h 1302177"/>
                <a:gd name="connsiteX1" fmla="*/ 0 w 1172983"/>
                <a:gd name="connsiteY1" fmla="*/ 1293897 h 1302177"/>
                <a:gd name="connsiteX2" fmla="*/ 574507 w 1172983"/>
                <a:gd name="connsiteY2" fmla="*/ 971148 h 1302177"/>
                <a:gd name="connsiteX3" fmla="*/ 1172983 w 1172983"/>
                <a:gd name="connsiteY3" fmla="*/ 1302177 h 1302177"/>
                <a:gd name="connsiteX4" fmla="*/ 599342 w 1172983"/>
                <a:gd name="connsiteY4" fmla="*/ 0 h 1302177"/>
                <a:gd name="connsiteX0" fmla="*/ 599342 w 1172983"/>
                <a:gd name="connsiteY0" fmla="*/ 0 h 1302177"/>
                <a:gd name="connsiteX1" fmla="*/ 0 w 1172983"/>
                <a:gd name="connsiteY1" fmla="*/ 1293897 h 1302177"/>
                <a:gd name="connsiteX2" fmla="*/ 574507 w 1172983"/>
                <a:gd name="connsiteY2" fmla="*/ 971148 h 1302177"/>
                <a:gd name="connsiteX3" fmla="*/ 1172983 w 1172983"/>
                <a:gd name="connsiteY3" fmla="*/ 1302177 h 1302177"/>
                <a:gd name="connsiteX4" fmla="*/ 599342 w 1172983"/>
                <a:gd name="connsiteY4" fmla="*/ 0 h 1302177"/>
                <a:gd name="connsiteX0" fmla="*/ 567040 w 1172983"/>
                <a:gd name="connsiteY0" fmla="*/ 0 h 1302177"/>
                <a:gd name="connsiteX1" fmla="*/ 0 w 1172983"/>
                <a:gd name="connsiteY1" fmla="*/ 1293897 h 1302177"/>
                <a:gd name="connsiteX2" fmla="*/ 574507 w 1172983"/>
                <a:gd name="connsiteY2" fmla="*/ 971148 h 1302177"/>
                <a:gd name="connsiteX3" fmla="*/ 1172983 w 1172983"/>
                <a:gd name="connsiteY3" fmla="*/ 1302177 h 1302177"/>
                <a:gd name="connsiteX4" fmla="*/ 567040 w 1172983"/>
                <a:gd name="connsiteY4" fmla="*/ 0 h 1302177"/>
                <a:gd name="connsiteX0" fmla="*/ 567040 w 1172983"/>
                <a:gd name="connsiteY0" fmla="*/ 0 h 1291003"/>
                <a:gd name="connsiteX1" fmla="*/ 0 w 1172983"/>
                <a:gd name="connsiteY1" fmla="*/ 1282723 h 1291003"/>
                <a:gd name="connsiteX2" fmla="*/ 574507 w 1172983"/>
                <a:gd name="connsiteY2" fmla="*/ 959974 h 1291003"/>
                <a:gd name="connsiteX3" fmla="*/ 1172983 w 1172983"/>
                <a:gd name="connsiteY3" fmla="*/ 1291003 h 1291003"/>
                <a:gd name="connsiteX4" fmla="*/ 567040 w 1172983"/>
                <a:gd name="connsiteY4" fmla="*/ 0 h 1291003"/>
                <a:gd name="connsiteX0" fmla="*/ 577807 w 1172983"/>
                <a:gd name="connsiteY0" fmla="*/ 0 h 1190441"/>
                <a:gd name="connsiteX1" fmla="*/ 0 w 1172983"/>
                <a:gd name="connsiteY1" fmla="*/ 1182161 h 1190441"/>
                <a:gd name="connsiteX2" fmla="*/ 574507 w 1172983"/>
                <a:gd name="connsiteY2" fmla="*/ 859412 h 1190441"/>
                <a:gd name="connsiteX3" fmla="*/ 1172983 w 1172983"/>
                <a:gd name="connsiteY3" fmla="*/ 1190441 h 1190441"/>
                <a:gd name="connsiteX4" fmla="*/ 577807 w 1172983"/>
                <a:gd name="connsiteY4" fmla="*/ 0 h 1190441"/>
                <a:gd name="connsiteX0" fmla="*/ 577807 w 1172983"/>
                <a:gd name="connsiteY0" fmla="*/ 0 h 933449"/>
                <a:gd name="connsiteX1" fmla="*/ 0 w 1172983"/>
                <a:gd name="connsiteY1" fmla="*/ 925169 h 933449"/>
                <a:gd name="connsiteX2" fmla="*/ 574507 w 1172983"/>
                <a:gd name="connsiteY2" fmla="*/ 602420 h 933449"/>
                <a:gd name="connsiteX3" fmla="*/ 1172983 w 1172983"/>
                <a:gd name="connsiteY3" fmla="*/ 933449 h 933449"/>
                <a:gd name="connsiteX4" fmla="*/ 577807 w 1172983"/>
                <a:gd name="connsiteY4" fmla="*/ 0 h 933449"/>
                <a:gd name="connsiteX0" fmla="*/ 599342 w 1172983"/>
                <a:gd name="connsiteY0" fmla="*/ 0 h 1324524"/>
                <a:gd name="connsiteX1" fmla="*/ 0 w 1172983"/>
                <a:gd name="connsiteY1" fmla="*/ 1316244 h 1324524"/>
                <a:gd name="connsiteX2" fmla="*/ 574507 w 1172983"/>
                <a:gd name="connsiteY2" fmla="*/ 993495 h 1324524"/>
                <a:gd name="connsiteX3" fmla="*/ 1172983 w 1172983"/>
                <a:gd name="connsiteY3" fmla="*/ 1324524 h 1324524"/>
                <a:gd name="connsiteX4" fmla="*/ 599342 w 1172983"/>
                <a:gd name="connsiteY4" fmla="*/ 0 h 1324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2983" h="1324524">
                  <a:moveTo>
                    <a:pt x="599342" y="0"/>
                  </a:moveTo>
                  <a:lnTo>
                    <a:pt x="0" y="1316244"/>
                  </a:lnTo>
                  <a:lnTo>
                    <a:pt x="574507" y="993495"/>
                  </a:lnTo>
                  <a:lnTo>
                    <a:pt x="1172983" y="1324524"/>
                  </a:lnTo>
                  <a:lnTo>
                    <a:pt x="599342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Google Shape;66;p14">
              <a:extLst>
                <a:ext uri="{FF2B5EF4-FFF2-40B4-BE49-F238E27FC236}">
                  <a16:creationId xmlns:a16="http://schemas.microsoft.com/office/drawing/2014/main" xmlns="" id="{6125D825-0410-C48C-B224-1205338D4E70}"/>
                </a:ext>
              </a:extLst>
            </p:cNvPr>
            <p:cNvSpPr txBox="1"/>
            <p:nvPr/>
          </p:nvSpPr>
          <p:spPr>
            <a:xfrm>
              <a:off x="15716513" y="3587815"/>
              <a:ext cx="502201" cy="6498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2400" b="1" dirty="0">
                  <a:solidFill>
                    <a:sysClr val="windowText" lastClr="000000"/>
                  </a:solidFill>
                </a:rPr>
                <a:t>N</a:t>
              </a:r>
              <a:endParaRPr sz="24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" name="Rektangel 11">
            <a:extLst>
              <a:ext uri="{FF2B5EF4-FFF2-40B4-BE49-F238E27FC236}">
                <a16:creationId xmlns:a16="http://schemas.microsoft.com/office/drawing/2014/main" xmlns="" id="{FF272179-214C-058E-FD42-C186C1307BBA}"/>
              </a:ext>
            </a:extLst>
          </p:cNvPr>
          <p:cNvSpPr/>
          <p:nvPr/>
        </p:nvSpPr>
        <p:spPr>
          <a:xfrm flipV="1">
            <a:off x="9976566" y="469404"/>
            <a:ext cx="139449" cy="14968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42374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 t="3146"/>
          <a:stretch>
            <a:fillRect/>
          </a:stretch>
        </p:blipFill>
        <p:spPr bwMode="auto">
          <a:xfrm>
            <a:off x="0" y="1924334"/>
            <a:ext cx="15119350" cy="8767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F5CD73CC-DBAA-D895-E1FF-13695D4A163F}"/>
              </a:ext>
            </a:extLst>
          </p:cNvPr>
          <p:cNvGrpSpPr/>
          <p:nvPr/>
        </p:nvGrpSpPr>
        <p:grpSpPr>
          <a:xfrm>
            <a:off x="0" y="0"/>
            <a:ext cx="15119350" cy="1980670"/>
            <a:chOff x="0" y="0"/>
            <a:chExt cx="15119350" cy="198067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xmlns="" id="{3E4217FE-7860-8DEB-96FF-2E0A038F6345}"/>
                </a:ext>
              </a:extLst>
            </p:cNvPr>
            <p:cNvSpPr/>
            <p:nvPr/>
          </p:nvSpPr>
          <p:spPr>
            <a:xfrm>
              <a:off x="0" y="1616"/>
              <a:ext cx="15119350" cy="19199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BE: SRNTGT101  CATCODE: 54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MIDB GEO: N 69 03.636 E 033 26.451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ICOD: 05JAN2024 DOI:05JAN2024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74FE0628-BB9C-AF14-102B-BB279EADEF59}"/>
                </a:ext>
              </a:extLst>
            </p:cNvPr>
            <p:cNvSpPr txBox="1"/>
            <p:nvPr/>
          </p:nvSpPr>
          <p:spPr>
            <a:xfrm>
              <a:off x="9114792" y="556201"/>
              <a:ext cx="223253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MAP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OVERVIEW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xmlns="" id="{AE4D4264-0A2D-0ECE-F37B-295952BD7862}"/>
                </a:ext>
              </a:extLst>
            </p:cNvPr>
            <p:cNvGrpSpPr/>
            <p:nvPr/>
          </p:nvGrpSpPr>
          <p:grpSpPr>
            <a:xfrm>
              <a:off x="1" y="0"/>
              <a:ext cx="15119349" cy="1921524"/>
              <a:chOff x="1" y="-1616"/>
              <a:chExt cx="15119349" cy="1921524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xmlns="" id="{CB3E9A16-46D8-EF82-F2A9-0A90E4A54B83}"/>
                  </a:ext>
                </a:extLst>
              </p:cNvPr>
              <p:cNvSpPr/>
              <p:nvPr/>
            </p:nvSpPr>
            <p:spPr>
              <a:xfrm>
                <a:off x="2447778" y="0"/>
                <a:ext cx="6668087" cy="78779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xmlns="" id="{AC097C9B-A0B8-68E2-F298-025473D6473E}"/>
                  </a:ext>
                </a:extLst>
              </p:cNvPr>
              <p:cNvSpPr/>
              <p:nvPr/>
            </p:nvSpPr>
            <p:spPr>
              <a:xfrm>
                <a:off x="2447567" y="787791"/>
                <a:ext cx="6668087" cy="113211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xmlns="" id="{EF35689B-7C41-DCD8-C686-A16660340F34}"/>
                  </a:ext>
                </a:extLst>
              </p:cNvPr>
              <p:cNvSpPr/>
              <p:nvPr/>
            </p:nvSpPr>
            <p:spPr>
              <a:xfrm>
                <a:off x="9115654" y="0"/>
                <a:ext cx="2251041" cy="191990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xmlns="" id="{EC974B8B-B396-8EFD-50A2-A4FFDA7F7A3E}"/>
                  </a:ext>
                </a:extLst>
              </p:cNvPr>
              <p:cNvSpPr/>
              <p:nvPr/>
            </p:nvSpPr>
            <p:spPr>
              <a:xfrm>
                <a:off x="11366695" y="-1616"/>
                <a:ext cx="3752655" cy="78779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xmlns="" id="{FEAE6AD0-23E5-CC27-7F76-7B89D29107CD}"/>
                  </a:ext>
                </a:extLst>
              </p:cNvPr>
              <p:cNvSpPr/>
              <p:nvPr/>
            </p:nvSpPr>
            <p:spPr>
              <a:xfrm>
                <a:off x="11366694" y="786175"/>
                <a:ext cx="3752655" cy="113373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xmlns="" id="{35F38D0E-3D44-03E0-8780-C27A3768BA88}"/>
                  </a:ext>
                </a:extLst>
              </p:cNvPr>
              <p:cNvSpPr/>
              <p:nvPr/>
            </p:nvSpPr>
            <p:spPr>
              <a:xfrm>
                <a:off x="1" y="0"/>
                <a:ext cx="2446916" cy="191990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22C41915-DAE8-541A-8746-F156DA3E994D}"/>
                </a:ext>
              </a:extLst>
            </p:cNvPr>
            <p:cNvSpPr txBox="1"/>
            <p:nvPr/>
          </p:nvSpPr>
          <p:spPr>
            <a:xfrm>
              <a:off x="2446917" y="21481"/>
              <a:ext cx="665043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GB" sz="2000" b="1" dirty="0" smtClean="0"/>
                <a:t>TROMSØ Airfield, REDLAND</a:t>
              </a:r>
              <a:endParaRPr lang="en-GB" sz="2000" b="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790D3E1E-19CF-D050-4C11-6651320CCE81}"/>
                </a:ext>
              </a:extLst>
            </p:cNvPr>
            <p:cNvSpPr txBox="1"/>
            <p:nvPr/>
          </p:nvSpPr>
          <p:spPr>
            <a:xfrm>
              <a:off x="2429057" y="945322"/>
              <a:ext cx="3621504" cy="78483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lvl="0"/>
              <a:r>
                <a:rPr lang="en-GB" sz="1500" b="1" dirty="0" smtClean="0"/>
                <a:t>BE: TRMATGT004  CATCODE: 3</a:t>
              </a:r>
            </a:p>
            <a:p>
              <a:pPr lvl="0"/>
              <a:r>
                <a:rPr lang="en-GB" sz="1500" b="1" dirty="0" smtClean="0"/>
                <a:t>MIDB GEO: </a:t>
              </a:r>
              <a:r>
                <a:rPr lang="pt-BR" sz="1500" b="1" dirty="0" smtClean="0"/>
                <a:t>N69˚40.800 E018˚55.800</a:t>
              </a:r>
              <a:endParaRPr lang="en-GB" sz="1500" b="1" dirty="0" smtClean="0"/>
            </a:p>
            <a:p>
              <a:pPr lvl="0"/>
              <a:r>
                <a:rPr lang="en-GB" sz="1500" b="1" dirty="0" smtClean="0"/>
                <a:t>ICOD</a:t>
              </a:r>
              <a:r>
                <a:rPr lang="en-GB" sz="1500" b="1" dirty="0" smtClean="0"/>
                <a:t>: 2011-JUL-06 DOI:2011-JUL-06</a:t>
              </a:r>
              <a:endParaRPr lang="en-GB" sz="1500" b="1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45295521-FE1E-7B1E-C122-6DC3428852E6}"/>
                </a:ext>
              </a:extLst>
            </p:cNvPr>
            <p:cNvSpPr txBox="1"/>
            <p:nvPr/>
          </p:nvSpPr>
          <p:spPr>
            <a:xfrm>
              <a:off x="11364760" y="79905"/>
              <a:ext cx="3752655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/>
              <a:r>
                <a:rPr lang="en-GB" sz="2000" b="1" dirty="0" smtClean="0"/>
                <a:t>TRMA CLASSIFIED</a:t>
              </a:r>
              <a:br>
                <a:rPr lang="en-GB" sz="2000" b="1" dirty="0" smtClean="0"/>
              </a:br>
              <a:r>
                <a:rPr lang="en-GB" sz="2000" b="1" dirty="0" smtClean="0"/>
                <a:t>REL TO 132nd</a:t>
              </a:r>
              <a:endParaRPr lang="en-GB" sz="20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0B4E4F46-22CB-39B1-EDAC-F042D58020DB}"/>
                </a:ext>
              </a:extLst>
            </p:cNvPr>
            <p:cNvSpPr txBox="1"/>
            <p:nvPr/>
          </p:nvSpPr>
          <p:spPr>
            <a:xfrm>
              <a:off x="11347323" y="1112228"/>
              <a:ext cx="37700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DECL ON: 2061-JUL-06</a:t>
              </a:r>
            </a:p>
          </p:txBody>
        </p:sp>
        <p:pic>
          <p:nvPicPr>
            <p:cNvPr id="35" name="Picture 34" descr="D:\GIT PROJECTS\OPAT-background\Virtual Intelligence Service only logo.PNG">
              <a:extLst>
                <a:ext uri="{FF2B5EF4-FFF2-40B4-BE49-F238E27FC236}">
                  <a16:creationId xmlns:a16="http://schemas.microsoft.com/office/drawing/2014/main" xmlns="" id="{82A1139C-21E2-BECF-4514-72BC3F821C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8686" y="21695"/>
              <a:ext cx="2225675" cy="1958975"/>
            </a:xfrm>
            <a:prstGeom prst="rect">
              <a:avLst/>
            </a:prstGeom>
            <a:noFill/>
          </p:spPr>
        </p:pic>
      </p:grpSp>
      <p:sp>
        <p:nvSpPr>
          <p:cNvPr id="9" name="Google Shape;67;p14">
            <a:extLst>
              <a:ext uri="{FF2B5EF4-FFF2-40B4-BE49-F238E27FC236}">
                <a16:creationId xmlns:a16="http://schemas.microsoft.com/office/drawing/2014/main" xmlns="" id="{2383979B-7C44-292F-EB3E-7EC226347C3D}"/>
              </a:ext>
            </a:extLst>
          </p:cNvPr>
          <p:cNvSpPr txBox="1"/>
          <p:nvPr/>
        </p:nvSpPr>
        <p:spPr>
          <a:xfrm>
            <a:off x="339685" y="5655510"/>
            <a:ext cx="1869900" cy="89408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GB" b="1" dirty="0" smtClean="0"/>
              <a:t>TROMSØ Airfield</a:t>
            </a:r>
            <a:r>
              <a:rPr lang="en-GB" b="1" dirty="0" smtClean="0">
                <a:solidFill>
                  <a:schemeClr val="dk1"/>
                </a:solidFill>
              </a:rPr>
              <a:t/>
            </a:r>
            <a:br>
              <a:rPr lang="en-GB" b="1" dirty="0" smtClean="0">
                <a:solidFill>
                  <a:schemeClr val="dk1"/>
                </a:solidFill>
              </a:rPr>
            </a:br>
            <a:r>
              <a:rPr lang="en-GB" b="1" dirty="0" smtClean="0">
                <a:solidFill>
                  <a:schemeClr val="dk1"/>
                </a:solidFill>
              </a:rPr>
              <a:t>TRMATGT004</a:t>
            </a:r>
            <a:endParaRPr lang="en-GB" b="1" dirty="0">
              <a:solidFill>
                <a:schemeClr val="dk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AC654BA9-C562-1EA2-B6BD-32C5F2B548CA}"/>
              </a:ext>
            </a:extLst>
          </p:cNvPr>
          <p:cNvCxnSpPr>
            <a:cxnSpLocks/>
            <a:stCxn id="9" idx="3"/>
            <a:endCxn id="52" idx="8"/>
          </p:cNvCxnSpPr>
          <p:nvPr/>
        </p:nvCxnSpPr>
        <p:spPr>
          <a:xfrm>
            <a:off x="2209585" y="6102550"/>
            <a:ext cx="3863669" cy="223623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782664DF-C468-18BB-60B8-51DB12E9F3B3}"/>
              </a:ext>
            </a:extLst>
          </p:cNvPr>
          <p:cNvSpPr txBox="1"/>
          <p:nvPr/>
        </p:nvSpPr>
        <p:spPr>
          <a:xfrm>
            <a:off x="2464354" y="368119"/>
            <a:ext cx="66310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/>
              <a:t>FACILITY OUTLINE GRAPHIC</a:t>
            </a:r>
            <a:r>
              <a:rPr lang="en-GB" sz="2000" b="1" dirty="0">
                <a:solidFill>
                  <a:schemeClr val="dk1"/>
                </a:solidFill>
              </a:rPr>
              <a:t> 1/1</a:t>
            </a:r>
            <a:endParaRPr lang="en-GB" sz="2000" b="1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023C097B-2416-1970-D75F-D9193FCFB1B4}"/>
              </a:ext>
            </a:extLst>
          </p:cNvPr>
          <p:cNvGrpSpPr/>
          <p:nvPr/>
        </p:nvGrpSpPr>
        <p:grpSpPr>
          <a:xfrm>
            <a:off x="14195180" y="2629410"/>
            <a:ext cx="559046" cy="692832"/>
            <a:chOff x="15526400" y="3343535"/>
            <a:chExt cx="1172983" cy="132452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xmlns="" id="{C92016ED-1E74-C72C-5061-8ACB2F96D816}"/>
                </a:ext>
              </a:extLst>
            </p:cNvPr>
            <p:cNvSpPr/>
            <p:nvPr/>
          </p:nvSpPr>
          <p:spPr>
            <a:xfrm>
              <a:off x="15526400" y="3343535"/>
              <a:ext cx="1172983" cy="1324523"/>
            </a:xfrm>
            <a:custGeom>
              <a:avLst/>
              <a:gdLst>
                <a:gd name="connsiteX0" fmla="*/ 351692 w 731520"/>
                <a:gd name="connsiteY0" fmla="*/ 0 h 858129"/>
                <a:gd name="connsiteX1" fmla="*/ 0 w 731520"/>
                <a:gd name="connsiteY1" fmla="*/ 858129 h 858129"/>
                <a:gd name="connsiteX2" fmla="*/ 337624 w 731520"/>
                <a:gd name="connsiteY2" fmla="*/ 647114 h 858129"/>
                <a:gd name="connsiteX3" fmla="*/ 731520 w 731520"/>
                <a:gd name="connsiteY3" fmla="*/ 844061 h 858129"/>
                <a:gd name="connsiteX4" fmla="*/ 351692 w 731520"/>
                <a:gd name="connsiteY4" fmla="*/ 0 h 858129"/>
                <a:gd name="connsiteX0" fmla="*/ 394761 w 731520"/>
                <a:gd name="connsiteY0" fmla="*/ 0 h 992212"/>
                <a:gd name="connsiteX1" fmla="*/ 0 w 731520"/>
                <a:gd name="connsiteY1" fmla="*/ 992212 h 992212"/>
                <a:gd name="connsiteX2" fmla="*/ 337624 w 731520"/>
                <a:gd name="connsiteY2" fmla="*/ 781197 h 992212"/>
                <a:gd name="connsiteX3" fmla="*/ 731520 w 731520"/>
                <a:gd name="connsiteY3" fmla="*/ 978144 h 992212"/>
                <a:gd name="connsiteX4" fmla="*/ 394761 w 731520"/>
                <a:gd name="connsiteY4" fmla="*/ 0 h 992212"/>
                <a:gd name="connsiteX0" fmla="*/ 383994 w 731520"/>
                <a:gd name="connsiteY0" fmla="*/ 0 h 992212"/>
                <a:gd name="connsiteX1" fmla="*/ 0 w 731520"/>
                <a:gd name="connsiteY1" fmla="*/ 992212 h 992212"/>
                <a:gd name="connsiteX2" fmla="*/ 337624 w 731520"/>
                <a:gd name="connsiteY2" fmla="*/ 781197 h 992212"/>
                <a:gd name="connsiteX3" fmla="*/ 731520 w 731520"/>
                <a:gd name="connsiteY3" fmla="*/ 978144 h 992212"/>
                <a:gd name="connsiteX4" fmla="*/ 383994 w 731520"/>
                <a:gd name="connsiteY4" fmla="*/ 0 h 992212"/>
                <a:gd name="connsiteX0" fmla="*/ 383994 w 957635"/>
                <a:gd name="connsiteY0" fmla="*/ 0 h 1313351"/>
                <a:gd name="connsiteX1" fmla="*/ 0 w 957635"/>
                <a:gd name="connsiteY1" fmla="*/ 992212 h 1313351"/>
                <a:gd name="connsiteX2" fmla="*/ 337624 w 957635"/>
                <a:gd name="connsiteY2" fmla="*/ 781197 h 1313351"/>
                <a:gd name="connsiteX3" fmla="*/ 957635 w 957635"/>
                <a:gd name="connsiteY3" fmla="*/ 1313351 h 1313351"/>
                <a:gd name="connsiteX4" fmla="*/ 383994 w 957635"/>
                <a:gd name="connsiteY4" fmla="*/ 0 h 1313351"/>
                <a:gd name="connsiteX0" fmla="*/ 599342 w 1172983"/>
                <a:gd name="connsiteY0" fmla="*/ 0 h 1313351"/>
                <a:gd name="connsiteX1" fmla="*/ 0 w 1172983"/>
                <a:gd name="connsiteY1" fmla="*/ 1305071 h 1313351"/>
                <a:gd name="connsiteX2" fmla="*/ 552972 w 1172983"/>
                <a:gd name="connsiteY2" fmla="*/ 781197 h 1313351"/>
                <a:gd name="connsiteX3" fmla="*/ 1172983 w 1172983"/>
                <a:gd name="connsiteY3" fmla="*/ 1313351 h 1313351"/>
                <a:gd name="connsiteX4" fmla="*/ 599342 w 1172983"/>
                <a:gd name="connsiteY4" fmla="*/ 0 h 1313351"/>
                <a:gd name="connsiteX0" fmla="*/ 599342 w 1172983"/>
                <a:gd name="connsiteY0" fmla="*/ 0 h 1313351"/>
                <a:gd name="connsiteX1" fmla="*/ 0 w 1172983"/>
                <a:gd name="connsiteY1" fmla="*/ 1305071 h 1313351"/>
                <a:gd name="connsiteX2" fmla="*/ 574507 w 1172983"/>
                <a:gd name="connsiteY2" fmla="*/ 982322 h 1313351"/>
                <a:gd name="connsiteX3" fmla="*/ 1172983 w 1172983"/>
                <a:gd name="connsiteY3" fmla="*/ 1313351 h 1313351"/>
                <a:gd name="connsiteX4" fmla="*/ 599342 w 1172983"/>
                <a:gd name="connsiteY4" fmla="*/ 0 h 1313351"/>
                <a:gd name="connsiteX0" fmla="*/ 599342 w 1172983"/>
                <a:gd name="connsiteY0" fmla="*/ 0 h 1302177"/>
                <a:gd name="connsiteX1" fmla="*/ 0 w 1172983"/>
                <a:gd name="connsiteY1" fmla="*/ 1293897 h 1302177"/>
                <a:gd name="connsiteX2" fmla="*/ 574507 w 1172983"/>
                <a:gd name="connsiteY2" fmla="*/ 971148 h 1302177"/>
                <a:gd name="connsiteX3" fmla="*/ 1172983 w 1172983"/>
                <a:gd name="connsiteY3" fmla="*/ 1302177 h 1302177"/>
                <a:gd name="connsiteX4" fmla="*/ 599342 w 1172983"/>
                <a:gd name="connsiteY4" fmla="*/ 0 h 1302177"/>
                <a:gd name="connsiteX0" fmla="*/ 599342 w 1172983"/>
                <a:gd name="connsiteY0" fmla="*/ 0 h 1302177"/>
                <a:gd name="connsiteX1" fmla="*/ 0 w 1172983"/>
                <a:gd name="connsiteY1" fmla="*/ 1293897 h 1302177"/>
                <a:gd name="connsiteX2" fmla="*/ 574507 w 1172983"/>
                <a:gd name="connsiteY2" fmla="*/ 971148 h 1302177"/>
                <a:gd name="connsiteX3" fmla="*/ 1172983 w 1172983"/>
                <a:gd name="connsiteY3" fmla="*/ 1302177 h 1302177"/>
                <a:gd name="connsiteX4" fmla="*/ 599342 w 1172983"/>
                <a:gd name="connsiteY4" fmla="*/ 0 h 1302177"/>
                <a:gd name="connsiteX0" fmla="*/ 567040 w 1172983"/>
                <a:gd name="connsiteY0" fmla="*/ 0 h 1302177"/>
                <a:gd name="connsiteX1" fmla="*/ 0 w 1172983"/>
                <a:gd name="connsiteY1" fmla="*/ 1293897 h 1302177"/>
                <a:gd name="connsiteX2" fmla="*/ 574507 w 1172983"/>
                <a:gd name="connsiteY2" fmla="*/ 971148 h 1302177"/>
                <a:gd name="connsiteX3" fmla="*/ 1172983 w 1172983"/>
                <a:gd name="connsiteY3" fmla="*/ 1302177 h 1302177"/>
                <a:gd name="connsiteX4" fmla="*/ 567040 w 1172983"/>
                <a:gd name="connsiteY4" fmla="*/ 0 h 1302177"/>
                <a:gd name="connsiteX0" fmla="*/ 567040 w 1172983"/>
                <a:gd name="connsiteY0" fmla="*/ 0 h 1291003"/>
                <a:gd name="connsiteX1" fmla="*/ 0 w 1172983"/>
                <a:gd name="connsiteY1" fmla="*/ 1282723 h 1291003"/>
                <a:gd name="connsiteX2" fmla="*/ 574507 w 1172983"/>
                <a:gd name="connsiteY2" fmla="*/ 959974 h 1291003"/>
                <a:gd name="connsiteX3" fmla="*/ 1172983 w 1172983"/>
                <a:gd name="connsiteY3" fmla="*/ 1291003 h 1291003"/>
                <a:gd name="connsiteX4" fmla="*/ 567040 w 1172983"/>
                <a:gd name="connsiteY4" fmla="*/ 0 h 1291003"/>
                <a:gd name="connsiteX0" fmla="*/ 577807 w 1172983"/>
                <a:gd name="connsiteY0" fmla="*/ 0 h 1190441"/>
                <a:gd name="connsiteX1" fmla="*/ 0 w 1172983"/>
                <a:gd name="connsiteY1" fmla="*/ 1182161 h 1190441"/>
                <a:gd name="connsiteX2" fmla="*/ 574507 w 1172983"/>
                <a:gd name="connsiteY2" fmla="*/ 859412 h 1190441"/>
                <a:gd name="connsiteX3" fmla="*/ 1172983 w 1172983"/>
                <a:gd name="connsiteY3" fmla="*/ 1190441 h 1190441"/>
                <a:gd name="connsiteX4" fmla="*/ 577807 w 1172983"/>
                <a:gd name="connsiteY4" fmla="*/ 0 h 1190441"/>
                <a:gd name="connsiteX0" fmla="*/ 577807 w 1172983"/>
                <a:gd name="connsiteY0" fmla="*/ 0 h 933449"/>
                <a:gd name="connsiteX1" fmla="*/ 0 w 1172983"/>
                <a:gd name="connsiteY1" fmla="*/ 925169 h 933449"/>
                <a:gd name="connsiteX2" fmla="*/ 574507 w 1172983"/>
                <a:gd name="connsiteY2" fmla="*/ 602420 h 933449"/>
                <a:gd name="connsiteX3" fmla="*/ 1172983 w 1172983"/>
                <a:gd name="connsiteY3" fmla="*/ 933449 h 933449"/>
                <a:gd name="connsiteX4" fmla="*/ 577807 w 1172983"/>
                <a:gd name="connsiteY4" fmla="*/ 0 h 933449"/>
                <a:gd name="connsiteX0" fmla="*/ 599342 w 1172983"/>
                <a:gd name="connsiteY0" fmla="*/ 0 h 1324524"/>
                <a:gd name="connsiteX1" fmla="*/ 0 w 1172983"/>
                <a:gd name="connsiteY1" fmla="*/ 1316244 h 1324524"/>
                <a:gd name="connsiteX2" fmla="*/ 574507 w 1172983"/>
                <a:gd name="connsiteY2" fmla="*/ 993495 h 1324524"/>
                <a:gd name="connsiteX3" fmla="*/ 1172983 w 1172983"/>
                <a:gd name="connsiteY3" fmla="*/ 1324524 h 1324524"/>
                <a:gd name="connsiteX4" fmla="*/ 599342 w 1172983"/>
                <a:gd name="connsiteY4" fmla="*/ 0 h 1324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2983" h="1324524">
                  <a:moveTo>
                    <a:pt x="599342" y="0"/>
                  </a:moveTo>
                  <a:lnTo>
                    <a:pt x="0" y="1316244"/>
                  </a:lnTo>
                  <a:lnTo>
                    <a:pt x="574507" y="993495"/>
                  </a:lnTo>
                  <a:lnTo>
                    <a:pt x="1172983" y="1324524"/>
                  </a:lnTo>
                  <a:lnTo>
                    <a:pt x="599342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Google Shape;66;p14">
              <a:extLst>
                <a:ext uri="{FF2B5EF4-FFF2-40B4-BE49-F238E27FC236}">
                  <a16:creationId xmlns:a16="http://schemas.microsoft.com/office/drawing/2014/main" xmlns="" id="{3AE8300E-885B-7457-BA2B-49F860A202B2}"/>
                </a:ext>
              </a:extLst>
            </p:cNvPr>
            <p:cNvSpPr txBox="1"/>
            <p:nvPr/>
          </p:nvSpPr>
          <p:spPr>
            <a:xfrm>
              <a:off x="15716513" y="3587815"/>
              <a:ext cx="502201" cy="6498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2400" b="1" dirty="0">
                  <a:solidFill>
                    <a:sysClr val="windowText" lastClr="000000"/>
                  </a:solidFill>
                </a:rPr>
                <a:t>N</a:t>
              </a:r>
              <a:endParaRPr sz="2400" b="1" dirty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44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131311" y="19456"/>
            <a:ext cx="2220868" cy="189742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45" name="Rektangel 11">
            <a:extLst>
              <a:ext uri="{FF2B5EF4-FFF2-40B4-BE49-F238E27FC236}">
                <a16:creationId xmlns:a16="http://schemas.microsoft.com/office/drawing/2014/main" xmlns="" id="{FF272179-214C-058E-FD42-C186C1307BBA}"/>
              </a:ext>
            </a:extLst>
          </p:cNvPr>
          <p:cNvSpPr/>
          <p:nvPr/>
        </p:nvSpPr>
        <p:spPr>
          <a:xfrm flipV="1">
            <a:off x="9976566" y="469404"/>
            <a:ext cx="139449" cy="14968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ihåndsform 51"/>
          <p:cNvSpPr/>
          <p:nvPr/>
        </p:nvSpPr>
        <p:spPr>
          <a:xfrm>
            <a:off x="6073254" y="2552131"/>
            <a:ext cx="3684895" cy="7765576"/>
          </a:xfrm>
          <a:custGeom>
            <a:avLst/>
            <a:gdLst>
              <a:gd name="connsiteX0" fmla="*/ 750627 w 3684895"/>
              <a:gd name="connsiteY0" fmla="*/ 7765576 h 7765576"/>
              <a:gd name="connsiteX1" fmla="*/ 1009934 w 3684895"/>
              <a:gd name="connsiteY1" fmla="*/ 7751929 h 7765576"/>
              <a:gd name="connsiteX2" fmla="*/ 3684895 w 3684895"/>
              <a:gd name="connsiteY2" fmla="*/ 95535 h 7765576"/>
              <a:gd name="connsiteX3" fmla="*/ 3330053 w 3684895"/>
              <a:gd name="connsiteY3" fmla="*/ 0 h 7765576"/>
              <a:gd name="connsiteX4" fmla="*/ 2347415 w 3684895"/>
              <a:gd name="connsiteY4" fmla="*/ 2565779 h 7765576"/>
              <a:gd name="connsiteX5" fmla="*/ 1433015 w 3684895"/>
              <a:gd name="connsiteY5" fmla="*/ 2292824 h 7765576"/>
              <a:gd name="connsiteX6" fmla="*/ 1064525 w 3684895"/>
              <a:gd name="connsiteY6" fmla="*/ 3480179 h 7765576"/>
              <a:gd name="connsiteX7" fmla="*/ 764274 w 3684895"/>
              <a:gd name="connsiteY7" fmla="*/ 3493827 h 7765576"/>
              <a:gd name="connsiteX8" fmla="*/ 0 w 3684895"/>
              <a:gd name="connsiteY8" fmla="*/ 5786651 h 7765576"/>
              <a:gd name="connsiteX9" fmla="*/ 518615 w 3684895"/>
              <a:gd name="connsiteY9" fmla="*/ 7656394 h 7765576"/>
              <a:gd name="connsiteX10" fmla="*/ 750627 w 3684895"/>
              <a:gd name="connsiteY10" fmla="*/ 7765576 h 7765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84895" h="7765576">
                <a:moveTo>
                  <a:pt x="750627" y="7765576"/>
                </a:moveTo>
                <a:lnTo>
                  <a:pt x="1009934" y="7751929"/>
                </a:lnTo>
                <a:lnTo>
                  <a:pt x="3684895" y="95535"/>
                </a:lnTo>
                <a:lnTo>
                  <a:pt x="3330053" y="0"/>
                </a:lnTo>
                <a:lnTo>
                  <a:pt x="2347415" y="2565779"/>
                </a:lnTo>
                <a:lnTo>
                  <a:pt x="1433015" y="2292824"/>
                </a:lnTo>
                <a:lnTo>
                  <a:pt x="1064525" y="3480179"/>
                </a:lnTo>
                <a:lnTo>
                  <a:pt x="764274" y="3493827"/>
                </a:lnTo>
                <a:lnTo>
                  <a:pt x="0" y="5786651"/>
                </a:lnTo>
                <a:lnTo>
                  <a:pt x="518615" y="7656394"/>
                </a:lnTo>
                <a:lnTo>
                  <a:pt x="750627" y="7765576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xmlns="" id="{116F48F0-6074-A1CE-AA9D-0C6CD3B04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 r="3361"/>
          <a:stretch>
            <a:fillRect/>
          </a:stretch>
        </p:blipFill>
        <p:spPr bwMode="auto">
          <a:xfrm>
            <a:off x="0" y="1935538"/>
            <a:ext cx="15119350" cy="875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82" name="Group 81">
            <a:extLst>
              <a:ext uri="{FF2B5EF4-FFF2-40B4-BE49-F238E27FC236}">
                <a16:creationId xmlns:a16="http://schemas.microsoft.com/office/drawing/2014/main" xmlns="" id="{D53A9B73-9B25-5594-0EE7-BB260E653DE2}"/>
              </a:ext>
            </a:extLst>
          </p:cNvPr>
          <p:cNvGrpSpPr/>
          <p:nvPr/>
        </p:nvGrpSpPr>
        <p:grpSpPr>
          <a:xfrm>
            <a:off x="0" y="0"/>
            <a:ext cx="15119350" cy="1980670"/>
            <a:chOff x="0" y="0"/>
            <a:chExt cx="15119350" cy="1980670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xmlns="" id="{6FDF50D4-3E21-F253-1020-1A685C9A5E9F}"/>
                </a:ext>
              </a:extLst>
            </p:cNvPr>
            <p:cNvSpPr/>
            <p:nvPr/>
          </p:nvSpPr>
          <p:spPr>
            <a:xfrm>
              <a:off x="0" y="1616"/>
              <a:ext cx="15119350" cy="19199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BE: SRNTGT101  CATCODE: 54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MIDB GEO: N 69 03.636 E 033 26.451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ICOD: 05JAN2024 DOI:05JAN2024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xmlns="" id="{309F92F5-36EC-98DD-F592-9B805B12D300}"/>
                </a:ext>
              </a:extLst>
            </p:cNvPr>
            <p:cNvSpPr txBox="1"/>
            <p:nvPr/>
          </p:nvSpPr>
          <p:spPr>
            <a:xfrm>
              <a:off x="9114792" y="556201"/>
              <a:ext cx="223253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MAP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OVERVIEW</a:t>
              </a:r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xmlns="" id="{7480B312-7DA3-9939-3642-30D944600409}"/>
                </a:ext>
              </a:extLst>
            </p:cNvPr>
            <p:cNvGrpSpPr/>
            <p:nvPr/>
          </p:nvGrpSpPr>
          <p:grpSpPr>
            <a:xfrm>
              <a:off x="1" y="0"/>
              <a:ext cx="15119349" cy="1921524"/>
              <a:chOff x="1" y="-1616"/>
              <a:chExt cx="15119349" cy="1921524"/>
            </a:xfrm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xmlns="" id="{E93C78CE-6696-60F6-AD00-D208BB9FF5A4}"/>
                  </a:ext>
                </a:extLst>
              </p:cNvPr>
              <p:cNvSpPr/>
              <p:nvPr/>
            </p:nvSpPr>
            <p:spPr>
              <a:xfrm>
                <a:off x="2447778" y="0"/>
                <a:ext cx="6668087" cy="78779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xmlns="" id="{41E7CD33-B4B1-DC42-AA05-48A559220DE3}"/>
                  </a:ext>
                </a:extLst>
              </p:cNvPr>
              <p:cNvSpPr/>
              <p:nvPr/>
            </p:nvSpPr>
            <p:spPr>
              <a:xfrm>
                <a:off x="2447567" y="787791"/>
                <a:ext cx="6668087" cy="113211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xmlns="" id="{C290754E-8F26-19F4-1581-4ADCB4834191}"/>
                  </a:ext>
                </a:extLst>
              </p:cNvPr>
              <p:cNvSpPr/>
              <p:nvPr/>
            </p:nvSpPr>
            <p:spPr>
              <a:xfrm>
                <a:off x="9115654" y="0"/>
                <a:ext cx="2251041" cy="191990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xmlns="" id="{122DEB19-0949-CEB6-6E54-85F906F60C4D}"/>
                  </a:ext>
                </a:extLst>
              </p:cNvPr>
              <p:cNvSpPr/>
              <p:nvPr/>
            </p:nvSpPr>
            <p:spPr>
              <a:xfrm>
                <a:off x="11366695" y="-1616"/>
                <a:ext cx="3752655" cy="78779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xmlns="" id="{20EC0F3E-B392-D0CD-5424-B98215943741}"/>
                  </a:ext>
                </a:extLst>
              </p:cNvPr>
              <p:cNvSpPr/>
              <p:nvPr/>
            </p:nvSpPr>
            <p:spPr>
              <a:xfrm>
                <a:off x="11366694" y="786175"/>
                <a:ext cx="3752655" cy="113373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xmlns="" id="{FD1ED4E1-2640-B6A3-FAF5-4E27B4D2C75F}"/>
                  </a:ext>
                </a:extLst>
              </p:cNvPr>
              <p:cNvSpPr/>
              <p:nvPr/>
            </p:nvSpPr>
            <p:spPr>
              <a:xfrm>
                <a:off x="1" y="0"/>
                <a:ext cx="2446916" cy="191990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xmlns="" id="{FA781243-0F08-CDE3-05D8-4C0832603317}"/>
                </a:ext>
              </a:extLst>
            </p:cNvPr>
            <p:cNvSpPr txBox="1"/>
            <p:nvPr/>
          </p:nvSpPr>
          <p:spPr>
            <a:xfrm>
              <a:off x="2446917" y="21481"/>
              <a:ext cx="665043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GB" sz="2000" b="1" dirty="0" smtClean="0"/>
                <a:t>TROMSØ Airfield, REDLAND</a:t>
              </a:r>
              <a:endParaRPr lang="en-GB" sz="2000" b="1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xmlns="" id="{C8F06210-462F-59BC-9C02-FAD5BE45BA31}"/>
                </a:ext>
              </a:extLst>
            </p:cNvPr>
            <p:cNvSpPr txBox="1"/>
            <p:nvPr/>
          </p:nvSpPr>
          <p:spPr>
            <a:xfrm>
              <a:off x="2429057" y="945322"/>
              <a:ext cx="3621504" cy="78483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lvl="0"/>
              <a:r>
                <a:rPr lang="en-GB" sz="1500" b="1" dirty="0" smtClean="0"/>
                <a:t>BE: TRMATGT004  CATCODE: 3</a:t>
              </a:r>
            </a:p>
            <a:p>
              <a:pPr lvl="0"/>
              <a:r>
                <a:rPr lang="en-GB" sz="1500" b="1" dirty="0" smtClean="0"/>
                <a:t>MIDB GEO: </a:t>
              </a:r>
              <a:r>
                <a:rPr lang="pt-BR" sz="1500" b="1" dirty="0" smtClean="0"/>
                <a:t>N69˚40.800 E018˚55.800</a:t>
              </a:r>
              <a:endParaRPr lang="en-GB" sz="1500" b="1" dirty="0" smtClean="0"/>
            </a:p>
            <a:p>
              <a:pPr lvl="0"/>
              <a:r>
                <a:rPr lang="en-GB" sz="1500" b="1" dirty="0" smtClean="0"/>
                <a:t>ICOD</a:t>
              </a:r>
              <a:r>
                <a:rPr lang="en-GB" sz="1500" b="1" dirty="0" smtClean="0"/>
                <a:t>: 2011-JUL-06 DOI:2011-JUL-06</a:t>
              </a:r>
              <a:endParaRPr lang="en-GB" sz="1500" b="1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xmlns="" id="{DD926FE0-F867-4AEF-26A6-CF0BA9D1AE84}"/>
                </a:ext>
              </a:extLst>
            </p:cNvPr>
            <p:cNvSpPr txBox="1"/>
            <p:nvPr/>
          </p:nvSpPr>
          <p:spPr>
            <a:xfrm>
              <a:off x="11364760" y="79905"/>
              <a:ext cx="3752655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1" dirty="0"/>
                <a:t>OPAC CLASSIFIED</a:t>
              </a:r>
              <a:br>
                <a:rPr lang="en-GB" sz="2000" b="1" dirty="0"/>
              </a:br>
              <a:r>
                <a:rPr lang="en-GB" sz="2000" b="1" dirty="0"/>
                <a:t>REL TO CJTF-23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xmlns="" id="{8302C22C-EBCE-9465-96DC-B67B01F390A5}"/>
                </a:ext>
              </a:extLst>
            </p:cNvPr>
            <p:cNvSpPr txBox="1"/>
            <p:nvPr/>
          </p:nvSpPr>
          <p:spPr>
            <a:xfrm>
              <a:off x="11347323" y="1112228"/>
              <a:ext cx="37700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DECL ON: 2061-JUL-06</a:t>
              </a:r>
            </a:p>
          </p:txBody>
        </p:sp>
        <p:pic>
          <p:nvPicPr>
            <p:cNvPr id="94" name="Picture 93" descr="D:\GIT PROJECTS\OPAT-background\Virtual Intelligence Service only logo.PNG">
              <a:extLst>
                <a:ext uri="{FF2B5EF4-FFF2-40B4-BE49-F238E27FC236}">
                  <a16:creationId xmlns:a16="http://schemas.microsoft.com/office/drawing/2014/main" xmlns="" id="{4D31AE15-2B58-A32A-2D4E-352295639F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8686" y="21695"/>
              <a:ext cx="2225675" cy="1958975"/>
            </a:xfrm>
            <a:prstGeom prst="rect">
              <a:avLst/>
            </a:prstGeom>
            <a:noFill/>
          </p:spPr>
        </p:pic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10FCE647-DA56-E493-1EAB-662C5D175B0E}"/>
              </a:ext>
            </a:extLst>
          </p:cNvPr>
          <p:cNvCxnSpPr>
            <a:cxnSpLocks/>
            <a:stCxn id="23" idx="0"/>
            <a:endCxn id="50" idx="3"/>
          </p:cNvCxnSpPr>
          <p:nvPr/>
        </p:nvCxnSpPr>
        <p:spPr>
          <a:xfrm rot="16200000" flipV="1">
            <a:off x="11675548" y="8456084"/>
            <a:ext cx="1228777" cy="1659721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xmlns="" id="{755B7AE4-9356-4FB0-F407-246A787474E3}"/>
              </a:ext>
            </a:extLst>
          </p:cNvPr>
          <p:cNvCxnSpPr>
            <a:cxnSpLocks/>
            <a:stCxn id="17" idx="0"/>
            <a:endCxn id="47" idx="3"/>
          </p:cNvCxnSpPr>
          <p:nvPr/>
        </p:nvCxnSpPr>
        <p:spPr>
          <a:xfrm rot="16200000" flipV="1">
            <a:off x="11719883" y="5117828"/>
            <a:ext cx="3614102" cy="14500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oogle Shape;171;p20">
            <a:extLst>
              <a:ext uri="{FF2B5EF4-FFF2-40B4-BE49-F238E27FC236}">
                <a16:creationId xmlns:a16="http://schemas.microsoft.com/office/drawing/2014/main" xmlns="" id="{187F89AD-9A55-E9B0-3894-CA493B83E5A4}"/>
              </a:ext>
            </a:extLst>
          </p:cNvPr>
          <p:cNvSpPr txBox="1"/>
          <p:nvPr/>
        </p:nvSpPr>
        <p:spPr>
          <a:xfrm>
            <a:off x="12329388" y="6997384"/>
            <a:ext cx="2540100" cy="802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b="1" dirty="0"/>
              <a:t>DPI: </a:t>
            </a:r>
            <a:r>
              <a:rPr lang="fr" sz="1000" b="1" dirty="0" smtClean="0"/>
              <a:t>C</a:t>
            </a:r>
            <a:endParaRPr lang="fr" sz="1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dirty="0" smtClean="0"/>
              <a:t>RUNWAY</a:t>
            </a:r>
            <a:endParaRPr lang="en-GB" sz="1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dirty="0" smtClean="0"/>
              <a:t>N69 41.244 E018 55.294</a:t>
            </a:r>
            <a:r>
              <a:rPr lang="pt-BR" sz="1000" b="1" dirty="0"/>
              <a:t/>
            </a:r>
            <a:br>
              <a:rPr lang="pt-BR" sz="1000" b="1" dirty="0"/>
            </a:br>
            <a:r>
              <a:rPr lang="fr" sz="1000" b="1" dirty="0"/>
              <a:t>DPI MSL: </a:t>
            </a:r>
            <a:r>
              <a:rPr lang="fr" sz="1000" b="1" dirty="0" smtClean="0"/>
              <a:t>18 </a:t>
            </a:r>
            <a:r>
              <a:rPr lang="fr" sz="1000" b="1" dirty="0"/>
              <a:t>FT</a:t>
            </a:r>
            <a:endParaRPr sz="1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 dirty="0"/>
          </a:p>
        </p:txBody>
      </p:sp>
      <p:sp>
        <p:nvSpPr>
          <p:cNvPr id="23" name="Google Shape;171;p20">
            <a:extLst>
              <a:ext uri="{FF2B5EF4-FFF2-40B4-BE49-F238E27FC236}">
                <a16:creationId xmlns:a16="http://schemas.microsoft.com/office/drawing/2014/main" xmlns="" id="{67DE412F-353C-D4C5-A225-9AB3DDD66E6F}"/>
              </a:ext>
            </a:extLst>
          </p:cNvPr>
          <p:cNvSpPr txBox="1"/>
          <p:nvPr/>
        </p:nvSpPr>
        <p:spPr>
          <a:xfrm>
            <a:off x="11849746" y="9900333"/>
            <a:ext cx="2540100" cy="79148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b="1" dirty="0"/>
              <a:t>DPI: </a:t>
            </a:r>
            <a:r>
              <a:rPr lang="fr" sz="1000" b="1" dirty="0" smtClean="0"/>
              <a:t>D</a:t>
            </a:r>
            <a:endParaRPr lang="fr" sz="1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b-NO" sz="1000" b="1" dirty="0" smtClean="0"/>
              <a:t>RUNWAY</a:t>
            </a:r>
            <a:endParaRPr sz="1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dirty="0" smtClean="0"/>
              <a:t>N69 50.981 E018 55.117</a:t>
            </a:r>
            <a:r>
              <a:rPr lang="pt-BR" sz="1000" b="1" dirty="0"/>
              <a:t/>
            </a:r>
            <a:br>
              <a:rPr lang="pt-BR" sz="1000" b="1" dirty="0"/>
            </a:br>
            <a:r>
              <a:rPr lang="fr" sz="1000" b="1" dirty="0"/>
              <a:t>DPI MSL: </a:t>
            </a:r>
            <a:r>
              <a:rPr lang="fr" sz="1000" b="1" dirty="0" smtClean="0"/>
              <a:t>22</a:t>
            </a:r>
            <a:r>
              <a:rPr lang="fr" sz="1000" b="1" dirty="0" smtClean="0"/>
              <a:t> </a:t>
            </a:r>
            <a:r>
              <a:rPr lang="fr" sz="1000" b="1" dirty="0"/>
              <a:t>FT</a:t>
            </a:r>
            <a:endParaRPr sz="1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xmlns="" id="{041F331E-C68C-528E-7FDA-1597F5D7F257}"/>
              </a:ext>
            </a:extLst>
          </p:cNvPr>
          <p:cNvCxnSpPr>
            <a:cxnSpLocks/>
            <a:stCxn id="76" idx="3"/>
            <a:endCxn id="46" idx="1"/>
          </p:cNvCxnSpPr>
          <p:nvPr/>
        </p:nvCxnSpPr>
        <p:spPr>
          <a:xfrm>
            <a:off x="2980319" y="3270018"/>
            <a:ext cx="4789244" cy="311925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xmlns="" id="{BDC419A3-89D7-D078-CBDE-2E2076DA4F5C}"/>
              </a:ext>
            </a:extLst>
          </p:cNvPr>
          <p:cNvSpPr/>
          <p:nvPr/>
        </p:nvSpPr>
        <p:spPr>
          <a:xfrm>
            <a:off x="7660538" y="6199358"/>
            <a:ext cx="436098" cy="379828"/>
          </a:xfrm>
          <a:prstGeom prst="triangl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dirty="0"/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xmlns="" id="{35F1DA57-E676-C83F-C11D-28A5AF92C636}"/>
              </a:ext>
            </a:extLst>
          </p:cNvPr>
          <p:cNvSpPr/>
          <p:nvPr/>
        </p:nvSpPr>
        <p:spPr>
          <a:xfrm>
            <a:off x="13236380" y="3003454"/>
            <a:ext cx="436098" cy="379828"/>
          </a:xfrm>
          <a:prstGeom prst="triangl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dirty="0"/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xmlns="" id="{1B8BAF81-7C95-F7C2-8474-C7A05EDEF453}"/>
              </a:ext>
            </a:extLst>
          </p:cNvPr>
          <p:cNvSpPr/>
          <p:nvPr/>
        </p:nvSpPr>
        <p:spPr>
          <a:xfrm>
            <a:off x="11242026" y="8291728"/>
            <a:ext cx="436098" cy="379828"/>
          </a:xfrm>
          <a:prstGeom prst="triangl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E442876D-0657-E2CF-8799-3BF0B7A6A0FE}"/>
              </a:ext>
            </a:extLst>
          </p:cNvPr>
          <p:cNvSpPr txBox="1"/>
          <p:nvPr/>
        </p:nvSpPr>
        <p:spPr>
          <a:xfrm>
            <a:off x="2449364" y="402381"/>
            <a:ext cx="75754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/>
              <a:t>DESIRED POINT OF IMPACT GRAPHIC 1/1</a:t>
            </a:r>
          </a:p>
        </p:txBody>
      </p:sp>
      <p:sp>
        <p:nvSpPr>
          <p:cNvPr id="76" name="Google Shape;171;p20">
            <a:extLst>
              <a:ext uri="{FF2B5EF4-FFF2-40B4-BE49-F238E27FC236}">
                <a16:creationId xmlns:a16="http://schemas.microsoft.com/office/drawing/2014/main" xmlns="" id="{CEE579E5-FDE7-B836-FF24-480A11265261}"/>
              </a:ext>
            </a:extLst>
          </p:cNvPr>
          <p:cNvSpPr txBox="1"/>
          <p:nvPr/>
        </p:nvSpPr>
        <p:spPr>
          <a:xfrm>
            <a:off x="440219" y="2868556"/>
            <a:ext cx="2540100" cy="802924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b="1" dirty="0"/>
              <a:t>DPI: 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dirty="0" smtClean="0"/>
              <a:t>INTELLIGENCE OFFICE</a:t>
            </a:r>
            <a:endParaRPr lang="en-GB" sz="1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dirty="0" smtClean="0"/>
              <a:t>N69 41.060 E018 54.587</a:t>
            </a:r>
            <a:r>
              <a:rPr lang="pt-BR" sz="1000" b="1" dirty="0"/>
              <a:t/>
            </a:r>
            <a:br>
              <a:rPr lang="pt-BR" sz="1000" b="1" dirty="0"/>
            </a:br>
            <a:r>
              <a:rPr lang="fr" sz="1000" b="1" dirty="0"/>
              <a:t>DPI </a:t>
            </a:r>
            <a:r>
              <a:rPr lang="fr" sz="1000" b="1" dirty="0" smtClean="0"/>
              <a:t>MSL:22FT</a:t>
            </a:r>
            <a:endParaRPr sz="1000" b="1" dirty="0"/>
          </a:p>
        </p:txBody>
      </p:sp>
      <p:sp>
        <p:nvSpPr>
          <p:cNvPr id="100" name="Google Shape;171;p20">
            <a:extLst>
              <a:ext uri="{FF2B5EF4-FFF2-40B4-BE49-F238E27FC236}">
                <a16:creationId xmlns:a16="http://schemas.microsoft.com/office/drawing/2014/main" xmlns="" id="{7B0CC888-284D-EC60-B7C3-383B21DA06DE}"/>
              </a:ext>
            </a:extLst>
          </p:cNvPr>
          <p:cNvSpPr txBox="1"/>
          <p:nvPr/>
        </p:nvSpPr>
        <p:spPr>
          <a:xfrm>
            <a:off x="3826831" y="2248004"/>
            <a:ext cx="2540100" cy="770112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b="1" dirty="0"/>
              <a:t>DPI: </a:t>
            </a:r>
            <a:r>
              <a:rPr lang="fr" sz="1000" b="1" dirty="0" smtClean="0"/>
              <a:t>B</a:t>
            </a:r>
            <a:endParaRPr lang="fr" sz="1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b-NO" sz="1000" b="1" dirty="0" smtClean="0"/>
              <a:t>SQUADRON BUILDING</a:t>
            </a:r>
            <a:endParaRPr sz="1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dirty="0" smtClean="0"/>
              <a:t>N69 41.086 E018 54.737</a:t>
            </a:r>
            <a:r>
              <a:rPr lang="pt-BR" sz="1000" b="1" dirty="0"/>
              <a:t/>
            </a:r>
            <a:br>
              <a:rPr lang="pt-BR" sz="1000" b="1" dirty="0"/>
            </a:br>
            <a:r>
              <a:rPr lang="fr" sz="1000" b="1" dirty="0"/>
              <a:t>DPI </a:t>
            </a:r>
            <a:r>
              <a:rPr lang="fr" sz="1000" b="1" dirty="0" smtClean="0"/>
              <a:t>MSL:21FT</a:t>
            </a:r>
            <a:endParaRPr sz="1000" b="1" dirty="0"/>
          </a:p>
        </p:txBody>
      </p:sp>
      <p:sp>
        <p:nvSpPr>
          <p:cNvPr id="103" name="Isosceles Triangle 102">
            <a:extLst>
              <a:ext uri="{FF2B5EF4-FFF2-40B4-BE49-F238E27FC236}">
                <a16:creationId xmlns:a16="http://schemas.microsoft.com/office/drawing/2014/main" xmlns="" id="{56BCFFC3-3E70-5497-7B48-CF15958812B1}"/>
              </a:ext>
            </a:extLst>
          </p:cNvPr>
          <p:cNvSpPr/>
          <p:nvPr/>
        </p:nvSpPr>
        <p:spPr>
          <a:xfrm>
            <a:off x="8792835" y="5744750"/>
            <a:ext cx="436098" cy="379828"/>
          </a:xfrm>
          <a:prstGeom prst="triangl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xmlns="" id="{CE4D4541-6028-EAAD-22B9-B8C788A48AF5}"/>
              </a:ext>
            </a:extLst>
          </p:cNvPr>
          <p:cNvCxnSpPr>
            <a:cxnSpLocks/>
            <a:stCxn id="100" idx="3"/>
            <a:endCxn id="103" idx="5"/>
          </p:cNvCxnSpPr>
          <p:nvPr/>
        </p:nvCxnSpPr>
        <p:spPr>
          <a:xfrm>
            <a:off x="6366931" y="2633060"/>
            <a:ext cx="2752978" cy="3301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xmlns="" id="{653F6929-DE8C-A651-43B6-EEE2BDFF7D26}"/>
              </a:ext>
            </a:extLst>
          </p:cNvPr>
          <p:cNvGrpSpPr/>
          <p:nvPr/>
        </p:nvGrpSpPr>
        <p:grpSpPr>
          <a:xfrm>
            <a:off x="14154237" y="2247273"/>
            <a:ext cx="559046" cy="692832"/>
            <a:chOff x="15526400" y="3343535"/>
            <a:chExt cx="1172983" cy="1324523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xmlns="" id="{13CEEFF2-4AF4-DAD2-BD04-71C077A0113B}"/>
                </a:ext>
              </a:extLst>
            </p:cNvPr>
            <p:cNvSpPr/>
            <p:nvPr/>
          </p:nvSpPr>
          <p:spPr>
            <a:xfrm>
              <a:off x="15526400" y="3343535"/>
              <a:ext cx="1172983" cy="1324523"/>
            </a:xfrm>
            <a:custGeom>
              <a:avLst/>
              <a:gdLst>
                <a:gd name="connsiteX0" fmla="*/ 351692 w 731520"/>
                <a:gd name="connsiteY0" fmla="*/ 0 h 858129"/>
                <a:gd name="connsiteX1" fmla="*/ 0 w 731520"/>
                <a:gd name="connsiteY1" fmla="*/ 858129 h 858129"/>
                <a:gd name="connsiteX2" fmla="*/ 337624 w 731520"/>
                <a:gd name="connsiteY2" fmla="*/ 647114 h 858129"/>
                <a:gd name="connsiteX3" fmla="*/ 731520 w 731520"/>
                <a:gd name="connsiteY3" fmla="*/ 844061 h 858129"/>
                <a:gd name="connsiteX4" fmla="*/ 351692 w 731520"/>
                <a:gd name="connsiteY4" fmla="*/ 0 h 858129"/>
                <a:gd name="connsiteX0" fmla="*/ 394761 w 731520"/>
                <a:gd name="connsiteY0" fmla="*/ 0 h 992212"/>
                <a:gd name="connsiteX1" fmla="*/ 0 w 731520"/>
                <a:gd name="connsiteY1" fmla="*/ 992212 h 992212"/>
                <a:gd name="connsiteX2" fmla="*/ 337624 w 731520"/>
                <a:gd name="connsiteY2" fmla="*/ 781197 h 992212"/>
                <a:gd name="connsiteX3" fmla="*/ 731520 w 731520"/>
                <a:gd name="connsiteY3" fmla="*/ 978144 h 992212"/>
                <a:gd name="connsiteX4" fmla="*/ 394761 w 731520"/>
                <a:gd name="connsiteY4" fmla="*/ 0 h 992212"/>
                <a:gd name="connsiteX0" fmla="*/ 383994 w 731520"/>
                <a:gd name="connsiteY0" fmla="*/ 0 h 992212"/>
                <a:gd name="connsiteX1" fmla="*/ 0 w 731520"/>
                <a:gd name="connsiteY1" fmla="*/ 992212 h 992212"/>
                <a:gd name="connsiteX2" fmla="*/ 337624 w 731520"/>
                <a:gd name="connsiteY2" fmla="*/ 781197 h 992212"/>
                <a:gd name="connsiteX3" fmla="*/ 731520 w 731520"/>
                <a:gd name="connsiteY3" fmla="*/ 978144 h 992212"/>
                <a:gd name="connsiteX4" fmla="*/ 383994 w 731520"/>
                <a:gd name="connsiteY4" fmla="*/ 0 h 992212"/>
                <a:gd name="connsiteX0" fmla="*/ 383994 w 957635"/>
                <a:gd name="connsiteY0" fmla="*/ 0 h 1313351"/>
                <a:gd name="connsiteX1" fmla="*/ 0 w 957635"/>
                <a:gd name="connsiteY1" fmla="*/ 992212 h 1313351"/>
                <a:gd name="connsiteX2" fmla="*/ 337624 w 957635"/>
                <a:gd name="connsiteY2" fmla="*/ 781197 h 1313351"/>
                <a:gd name="connsiteX3" fmla="*/ 957635 w 957635"/>
                <a:gd name="connsiteY3" fmla="*/ 1313351 h 1313351"/>
                <a:gd name="connsiteX4" fmla="*/ 383994 w 957635"/>
                <a:gd name="connsiteY4" fmla="*/ 0 h 1313351"/>
                <a:gd name="connsiteX0" fmla="*/ 599342 w 1172983"/>
                <a:gd name="connsiteY0" fmla="*/ 0 h 1313351"/>
                <a:gd name="connsiteX1" fmla="*/ 0 w 1172983"/>
                <a:gd name="connsiteY1" fmla="*/ 1305071 h 1313351"/>
                <a:gd name="connsiteX2" fmla="*/ 552972 w 1172983"/>
                <a:gd name="connsiteY2" fmla="*/ 781197 h 1313351"/>
                <a:gd name="connsiteX3" fmla="*/ 1172983 w 1172983"/>
                <a:gd name="connsiteY3" fmla="*/ 1313351 h 1313351"/>
                <a:gd name="connsiteX4" fmla="*/ 599342 w 1172983"/>
                <a:gd name="connsiteY4" fmla="*/ 0 h 1313351"/>
                <a:gd name="connsiteX0" fmla="*/ 599342 w 1172983"/>
                <a:gd name="connsiteY0" fmla="*/ 0 h 1313351"/>
                <a:gd name="connsiteX1" fmla="*/ 0 w 1172983"/>
                <a:gd name="connsiteY1" fmla="*/ 1305071 h 1313351"/>
                <a:gd name="connsiteX2" fmla="*/ 574507 w 1172983"/>
                <a:gd name="connsiteY2" fmla="*/ 982322 h 1313351"/>
                <a:gd name="connsiteX3" fmla="*/ 1172983 w 1172983"/>
                <a:gd name="connsiteY3" fmla="*/ 1313351 h 1313351"/>
                <a:gd name="connsiteX4" fmla="*/ 599342 w 1172983"/>
                <a:gd name="connsiteY4" fmla="*/ 0 h 1313351"/>
                <a:gd name="connsiteX0" fmla="*/ 599342 w 1172983"/>
                <a:gd name="connsiteY0" fmla="*/ 0 h 1302177"/>
                <a:gd name="connsiteX1" fmla="*/ 0 w 1172983"/>
                <a:gd name="connsiteY1" fmla="*/ 1293897 h 1302177"/>
                <a:gd name="connsiteX2" fmla="*/ 574507 w 1172983"/>
                <a:gd name="connsiteY2" fmla="*/ 971148 h 1302177"/>
                <a:gd name="connsiteX3" fmla="*/ 1172983 w 1172983"/>
                <a:gd name="connsiteY3" fmla="*/ 1302177 h 1302177"/>
                <a:gd name="connsiteX4" fmla="*/ 599342 w 1172983"/>
                <a:gd name="connsiteY4" fmla="*/ 0 h 1302177"/>
                <a:gd name="connsiteX0" fmla="*/ 599342 w 1172983"/>
                <a:gd name="connsiteY0" fmla="*/ 0 h 1302177"/>
                <a:gd name="connsiteX1" fmla="*/ 0 w 1172983"/>
                <a:gd name="connsiteY1" fmla="*/ 1293897 h 1302177"/>
                <a:gd name="connsiteX2" fmla="*/ 574507 w 1172983"/>
                <a:gd name="connsiteY2" fmla="*/ 971148 h 1302177"/>
                <a:gd name="connsiteX3" fmla="*/ 1172983 w 1172983"/>
                <a:gd name="connsiteY3" fmla="*/ 1302177 h 1302177"/>
                <a:gd name="connsiteX4" fmla="*/ 599342 w 1172983"/>
                <a:gd name="connsiteY4" fmla="*/ 0 h 1302177"/>
                <a:gd name="connsiteX0" fmla="*/ 567040 w 1172983"/>
                <a:gd name="connsiteY0" fmla="*/ 0 h 1302177"/>
                <a:gd name="connsiteX1" fmla="*/ 0 w 1172983"/>
                <a:gd name="connsiteY1" fmla="*/ 1293897 h 1302177"/>
                <a:gd name="connsiteX2" fmla="*/ 574507 w 1172983"/>
                <a:gd name="connsiteY2" fmla="*/ 971148 h 1302177"/>
                <a:gd name="connsiteX3" fmla="*/ 1172983 w 1172983"/>
                <a:gd name="connsiteY3" fmla="*/ 1302177 h 1302177"/>
                <a:gd name="connsiteX4" fmla="*/ 567040 w 1172983"/>
                <a:gd name="connsiteY4" fmla="*/ 0 h 1302177"/>
                <a:gd name="connsiteX0" fmla="*/ 567040 w 1172983"/>
                <a:gd name="connsiteY0" fmla="*/ 0 h 1291003"/>
                <a:gd name="connsiteX1" fmla="*/ 0 w 1172983"/>
                <a:gd name="connsiteY1" fmla="*/ 1282723 h 1291003"/>
                <a:gd name="connsiteX2" fmla="*/ 574507 w 1172983"/>
                <a:gd name="connsiteY2" fmla="*/ 959974 h 1291003"/>
                <a:gd name="connsiteX3" fmla="*/ 1172983 w 1172983"/>
                <a:gd name="connsiteY3" fmla="*/ 1291003 h 1291003"/>
                <a:gd name="connsiteX4" fmla="*/ 567040 w 1172983"/>
                <a:gd name="connsiteY4" fmla="*/ 0 h 1291003"/>
                <a:gd name="connsiteX0" fmla="*/ 577807 w 1172983"/>
                <a:gd name="connsiteY0" fmla="*/ 0 h 1190441"/>
                <a:gd name="connsiteX1" fmla="*/ 0 w 1172983"/>
                <a:gd name="connsiteY1" fmla="*/ 1182161 h 1190441"/>
                <a:gd name="connsiteX2" fmla="*/ 574507 w 1172983"/>
                <a:gd name="connsiteY2" fmla="*/ 859412 h 1190441"/>
                <a:gd name="connsiteX3" fmla="*/ 1172983 w 1172983"/>
                <a:gd name="connsiteY3" fmla="*/ 1190441 h 1190441"/>
                <a:gd name="connsiteX4" fmla="*/ 577807 w 1172983"/>
                <a:gd name="connsiteY4" fmla="*/ 0 h 1190441"/>
                <a:gd name="connsiteX0" fmla="*/ 577807 w 1172983"/>
                <a:gd name="connsiteY0" fmla="*/ 0 h 933449"/>
                <a:gd name="connsiteX1" fmla="*/ 0 w 1172983"/>
                <a:gd name="connsiteY1" fmla="*/ 925169 h 933449"/>
                <a:gd name="connsiteX2" fmla="*/ 574507 w 1172983"/>
                <a:gd name="connsiteY2" fmla="*/ 602420 h 933449"/>
                <a:gd name="connsiteX3" fmla="*/ 1172983 w 1172983"/>
                <a:gd name="connsiteY3" fmla="*/ 933449 h 933449"/>
                <a:gd name="connsiteX4" fmla="*/ 577807 w 1172983"/>
                <a:gd name="connsiteY4" fmla="*/ 0 h 933449"/>
                <a:gd name="connsiteX0" fmla="*/ 599342 w 1172983"/>
                <a:gd name="connsiteY0" fmla="*/ 0 h 1324524"/>
                <a:gd name="connsiteX1" fmla="*/ 0 w 1172983"/>
                <a:gd name="connsiteY1" fmla="*/ 1316244 h 1324524"/>
                <a:gd name="connsiteX2" fmla="*/ 574507 w 1172983"/>
                <a:gd name="connsiteY2" fmla="*/ 993495 h 1324524"/>
                <a:gd name="connsiteX3" fmla="*/ 1172983 w 1172983"/>
                <a:gd name="connsiteY3" fmla="*/ 1324524 h 1324524"/>
                <a:gd name="connsiteX4" fmla="*/ 599342 w 1172983"/>
                <a:gd name="connsiteY4" fmla="*/ 0 h 1324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2983" h="1324524">
                  <a:moveTo>
                    <a:pt x="599342" y="0"/>
                  </a:moveTo>
                  <a:lnTo>
                    <a:pt x="0" y="1316244"/>
                  </a:lnTo>
                  <a:lnTo>
                    <a:pt x="574507" y="993495"/>
                  </a:lnTo>
                  <a:lnTo>
                    <a:pt x="1172983" y="1324524"/>
                  </a:lnTo>
                  <a:lnTo>
                    <a:pt x="599342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Google Shape;66;p14">
              <a:extLst>
                <a:ext uri="{FF2B5EF4-FFF2-40B4-BE49-F238E27FC236}">
                  <a16:creationId xmlns:a16="http://schemas.microsoft.com/office/drawing/2014/main" xmlns="" id="{73039EFB-C636-CE90-0EA4-A2FD38679206}"/>
                </a:ext>
              </a:extLst>
            </p:cNvPr>
            <p:cNvSpPr txBox="1"/>
            <p:nvPr/>
          </p:nvSpPr>
          <p:spPr>
            <a:xfrm>
              <a:off x="15716513" y="3587815"/>
              <a:ext cx="502201" cy="6498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2400" b="1" dirty="0">
                  <a:solidFill>
                    <a:sysClr val="windowText" lastClr="000000"/>
                  </a:solidFill>
                </a:rPr>
                <a:t>N</a:t>
              </a:r>
              <a:endParaRPr sz="2400" b="1" dirty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37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131311" y="19456"/>
            <a:ext cx="2220868" cy="189742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41" name="Rektangel 11">
            <a:extLst>
              <a:ext uri="{FF2B5EF4-FFF2-40B4-BE49-F238E27FC236}">
                <a16:creationId xmlns:a16="http://schemas.microsoft.com/office/drawing/2014/main" xmlns="" id="{FF272179-214C-058E-FD42-C186C1307BBA}"/>
              </a:ext>
            </a:extLst>
          </p:cNvPr>
          <p:cNvSpPr/>
          <p:nvPr/>
        </p:nvSpPr>
        <p:spPr>
          <a:xfrm flipV="1">
            <a:off x="9976566" y="469404"/>
            <a:ext cx="139449" cy="14968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7369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xmlns="" id="{116F48F0-6074-A1CE-AA9D-0C6CD3B04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 r="4929"/>
          <a:stretch>
            <a:fillRect/>
          </a:stretch>
        </p:blipFill>
        <p:spPr bwMode="auto">
          <a:xfrm>
            <a:off x="1" y="1951247"/>
            <a:ext cx="15119349" cy="8740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oup 81">
            <a:extLst>
              <a:ext uri="{FF2B5EF4-FFF2-40B4-BE49-F238E27FC236}">
                <a16:creationId xmlns:a16="http://schemas.microsoft.com/office/drawing/2014/main" xmlns="" id="{D53A9B73-9B25-5594-0EE7-BB260E653DE2}"/>
              </a:ext>
            </a:extLst>
          </p:cNvPr>
          <p:cNvGrpSpPr/>
          <p:nvPr/>
        </p:nvGrpSpPr>
        <p:grpSpPr>
          <a:xfrm>
            <a:off x="0" y="0"/>
            <a:ext cx="15119350" cy="1980670"/>
            <a:chOff x="0" y="0"/>
            <a:chExt cx="15119350" cy="1980670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xmlns="" id="{6FDF50D4-3E21-F253-1020-1A685C9A5E9F}"/>
                </a:ext>
              </a:extLst>
            </p:cNvPr>
            <p:cNvSpPr/>
            <p:nvPr/>
          </p:nvSpPr>
          <p:spPr>
            <a:xfrm>
              <a:off x="0" y="1616"/>
              <a:ext cx="15119350" cy="19199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BE: SRNTGT101  CATCODE: 54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MIDB GEO: N 69 03.636 E 033 26.451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ICOD: 05JAN2024 DOI:05JAN2024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xmlns="" id="{309F92F5-36EC-98DD-F592-9B805B12D300}"/>
                </a:ext>
              </a:extLst>
            </p:cNvPr>
            <p:cNvSpPr txBox="1"/>
            <p:nvPr/>
          </p:nvSpPr>
          <p:spPr>
            <a:xfrm>
              <a:off x="9114792" y="556201"/>
              <a:ext cx="223253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MAP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OVERVIEW</a:t>
              </a:r>
            </a:p>
          </p:txBody>
        </p:sp>
        <p:grpSp>
          <p:nvGrpSpPr>
            <p:cNvPr id="3" name="Group 85">
              <a:extLst>
                <a:ext uri="{FF2B5EF4-FFF2-40B4-BE49-F238E27FC236}">
                  <a16:creationId xmlns:a16="http://schemas.microsoft.com/office/drawing/2014/main" xmlns="" id="{7480B312-7DA3-9939-3642-30D944600409}"/>
                </a:ext>
              </a:extLst>
            </p:cNvPr>
            <p:cNvGrpSpPr/>
            <p:nvPr/>
          </p:nvGrpSpPr>
          <p:grpSpPr>
            <a:xfrm>
              <a:off x="1" y="0"/>
              <a:ext cx="15119349" cy="1921524"/>
              <a:chOff x="1" y="-1616"/>
              <a:chExt cx="15119349" cy="1921524"/>
            </a:xfrm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xmlns="" id="{E93C78CE-6696-60F6-AD00-D208BB9FF5A4}"/>
                  </a:ext>
                </a:extLst>
              </p:cNvPr>
              <p:cNvSpPr/>
              <p:nvPr/>
            </p:nvSpPr>
            <p:spPr>
              <a:xfrm>
                <a:off x="2447778" y="0"/>
                <a:ext cx="6668087" cy="78779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xmlns="" id="{41E7CD33-B4B1-DC42-AA05-48A559220DE3}"/>
                  </a:ext>
                </a:extLst>
              </p:cNvPr>
              <p:cNvSpPr/>
              <p:nvPr/>
            </p:nvSpPr>
            <p:spPr>
              <a:xfrm>
                <a:off x="2447567" y="787791"/>
                <a:ext cx="6668087" cy="113211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xmlns="" id="{C290754E-8F26-19F4-1581-4ADCB4834191}"/>
                  </a:ext>
                </a:extLst>
              </p:cNvPr>
              <p:cNvSpPr/>
              <p:nvPr/>
            </p:nvSpPr>
            <p:spPr>
              <a:xfrm>
                <a:off x="9115654" y="0"/>
                <a:ext cx="2251041" cy="191990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xmlns="" id="{122DEB19-0949-CEB6-6E54-85F906F60C4D}"/>
                  </a:ext>
                </a:extLst>
              </p:cNvPr>
              <p:cNvSpPr/>
              <p:nvPr/>
            </p:nvSpPr>
            <p:spPr>
              <a:xfrm>
                <a:off x="11366695" y="-1616"/>
                <a:ext cx="3752655" cy="78779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xmlns="" id="{20EC0F3E-B392-D0CD-5424-B98215943741}"/>
                  </a:ext>
                </a:extLst>
              </p:cNvPr>
              <p:cNvSpPr/>
              <p:nvPr/>
            </p:nvSpPr>
            <p:spPr>
              <a:xfrm>
                <a:off x="11366694" y="786175"/>
                <a:ext cx="3752655" cy="113373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xmlns="" id="{FD1ED4E1-2640-B6A3-FAF5-4E27B4D2C75F}"/>
                  </a:ext>
                </a:extLst>
              </p:cNvPr>
              <p:cNvSpPr/>
              <p:nvPr/>
            </p:nvSpPr>
            <p:spPr>
              <a:xfrm>
                <a:off x="1" y="0"/>
                <a:ext cx="2446916" cy="191990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xmlns="" id="{FA781243-0F08-CDE3-05D8-4C0832603317}"/>
                </a:ext>
              </a:extLst>
            </p:cNvPr>
            <p:cNvSpPr txBox="1"/>
            <p:nvPr/>
          </p:nvSpPr>
          <p:spPr>
            <a:xfrm>
              <a:off x="2446917" y="21481"/>
              <a:ext cx="665043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GB" sz="2000" b="1" dirty="0" smtClean="0"/>
                <a:t>TROMSØ Airfield, REDLAND</a:t>
              </a:r>
              <a:endParaRPr lang="en-GB" sz="2000" b="1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xmlns="" id="{C8F06210-462F-59BC-9C02-FAD5BE45BA31}"/>
                </a:ext>
              </a:extLst>
            </p:cNvPr>
            <p:cNvSpPr txBox="1"/>
            <p:nvPr/>
          </p:nvSpPr>
          <p:spPr>
            <a:xfrm>
              <a:off x="2429057" y="945322"/>
              <a:ext cx="3621504" cy="78483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lvl="0"/>
              <a:r>
                <a:rPr lang="en-GB" sz="1500" b="1" dirty="0" smtClean="0"/>
                <a:t>BE: TRMATGT004  CATCODE: 3</a:t>
              </a:r>
            </a:p>
            <a:p>
              <a:pPr lvl="0"/>
              <a:r>
                <a:rPr lang="en-GB" sz="1500" b="1" dirty="0" smtClean="0"/>
                <a:t>MIDB GEO: </a:t>
              </a:r>
              <a:r>
                <a:rPr lang="pt-BR" sz="1500" b="1" dirty="0" smtClean="0"/>
                <a:t>N69˚40.800 E018˚55.800</a:t>
              </a:r>
              <a:endParaRPr lang="en-GB" sz="1500" b="1" dirty="0" smtClean="0"/>
            </a:p>
            <a:p>
              <a:pPr lvl="0"/>
              <a:r>
                <a:rPr lang="en-GB" sz="1500" b="1" dirty="0" smtClean="0"/>
                <a:t>ICOD</a:t>
              </a:r>
              <a:r>
                <a:rPr lang="en-GB" sz="1500" b="1" dirty="0" smtClean="0"/>
                <a:t>: 2011-JUL-06 DOI:2011-JUL-06</a:t>
              </a:r>
              <a:endParaRPr lang="en-GB" sz="1500" b="1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xmlns="" id="{DD926FE0-F867-4AEF-26A6-CF0BA9D1AE84}"/>
                </a:ext>
              </a:extLst>
            </p:cNvPr>
            <p:cNvSpPr txBox="1"/>
            <p:nvPr/>
          </p:nvSpPr>
          <p:spPr>
            <a:xfrm>
              <a:off x="11364760" y="79905"/>
              <a:ext cx="3752655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1" dirty="0"/>
                <a:t>OPAC CLASSIFIED</a:t>
              </a:r>
              <a:br>
                <a:rPr lang="en-GB" sz="2000" b="1" dirty="0"/>
              </a:br>
              <a:r>
                <a:rPr lang="en-GB" sz="2000" b="1" dirty="0"/>
                <a:t>REL TO CJTF-23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xmlns="" id="{8302C22C-EBCE-9465-96DC-B67B01F390A5}"/>
                </a:ext>
              </a:extLst>
            </p:cNvPr>
            <p:cNvSpPr txBox="1"/>
            <p:nvPr/>
          </p:nvSpPr>
          <p:spPr>
            <a:xfrm>
              <a:off x="11347323" y="1112228"/>
              <a:ext cx="37700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DECL ON: 2061-JUL-06</a:t>
              </a:r>
            </a:p>
          </p:txBody>
        </p:sp>
        <p:pic>
          <p:nvPicPr>
            <p:cNvPr id="94" name="Picture 93" descr="D:\GIT PROJECTS\OPAT-background\Virtual Intelligence Service only logo.PNG">
              <a:extLst>
                <a:ext uri="{FF2B5EF4-FFF2-40B4-BE49-F238E27FC236}">
                  <a16:creationId xmlns:a16="http://schemas.microsoft.com/office/drawing/2014/main" xmlns="" id="{4D31AE15-2B58-A32A-2D4E-352295639F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8686" y="21695"/>
              <a:ext cx="2225675" cy="1958975"/>
            </a:xfrm>
            <a:prstGeom prst="rect">
              <a:avLst/>
            </a:prstGeom>
            <a:noFill/>
          </p:spPr>
        </p:pic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xmlns="" id="{041F331E-C68C-528E-7FDA-1597F5D7F257}"/>
              </a:ext>
            </a:extLst>
          </p:cNvPr>
          <p:cNvCxnSpPr>
            <a:cxnSpLocks/>
            <a:stCxn id="76" idx="3"/>
            <a:endCxn id="46" idx="1"/>
          </p:cNvCxnSpPr>
          <p:nvPr/>
        </p:nvCxnSpPr>
        <p:spPr>
          <a:xfrm>
            <a:off x="2980319" y="3270018"/>
            <a:ext cx="4884778" cy="298277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xmlns="" id="{BDC419A3-89D7-D078-CBDE-2E2076DA4F5C}"/>
              </a:ext>
            </a:extLst>
          </p:cNvPr>
          <p:cNvSpPr/>
          <p:nvPr/>
        </p:nvSpPr>
        <p:spPr>
          <a:xfrm>
            <a:off x="7756072" y="6062881"/>
            <a:ext cx="436098" cy="379828"/>
          </a:xfrm>
          <a:prstGeom prst="triangl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E442876D-0657-E2CF-8799-3BF0B7A6A0FE}"/>
              </a:ext>
            </a:extLst>
          </p:cNvPr>
          <p:cNvSpPr txBox="1"/>
          <p:nvPr/>
        </p:nvSpPr>
        <p:spPr>
          <a:xfrm>
            <a:off x="2449364" y="402381"/>
            <a:ext cx="75754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/>
              <a:t>DESIRED POINT OF IMPACT GRAPHIC 1/1</a:t>
            </a:r>
          </a:p>
        </p:txBody>
      </p:sp>
      <p:sp>
        <p:nvSpPr>
          <p:cNvPr id="76" name="Google Shape;171;p20">
            <a:extLst>
              <a:ext uri="{FF2B5EF4-FFF2-40B4-BE49-F238E27FC236}">
                <a16:creationId xmlns:a16="http://schemas.microsoft.com/office/drawing/2014/main" xmlns="" id="{CEE579E5-FDE7-B836-FF24-480A11265261}"/>
              </a:ext>
            </a:extLst>
          </p:cNvPr>
          <p:cNvSpPr txBox="1"/>
          <p:nvPr/>
        </p:nvSpPr>
        <p:spPr>
          <a:xfrm>
            <a:off x="440219" y="2868556"/>
            <a:ext cx="2540100" cy="802924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b="1" dirty="0"/>
              <a:t>DPI: 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dirty="0" smtClean="0"/>
              <a:t>INTELLIGENCE OFFICE</a:t>
            </a:r>
            <a:endParaRPr lang="en-GB" sz="1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dirty="0" smtClean="0"/>
              <a:t>N69 41.060 E018 54.587</a:t>
            </a:r>
            <a:r>
              <a:rPr lang="pt-BR" sz="1000" b="1" dirty="0"/>
              <a:t/>
            </a:r>
            <a:br>
              <a:rPr lang="pt-BR" sz="1000" b="1" dirty="0"/>
            </a:br>
            <a:r>
              <a:rPr lang="fr" sz="1000" b="1" dirty="0"/>
              <a:t>DPI </a:t>
            </a:r>
            <a:r>
              <a:rPr lang="fr" sz="1000" b="1" dirty="0" smtClean="0"/>
              <a:t>MSL:22FT</a:t>
            </a:r>
            <a:endParaRPr sz="1000" b="1" dirty="0"/>
          </a:p>
        </p:txBody>
      </p:sp>
      <p:sp>
        <p:nvSpPr>
          <p:cNvPr id="100" name="Google Shape;171;p20">
            <a:extLst>
              <a:ext uri="{FF2B5EF4-FFF2-40B4-BE49-F238E27FC236}">
                <a16:creationId xmlns:a16="http://schemas.microsoft.com/office/drawing/2014/main" xmlns="" id="{7B0CC888-284D-EC60-B7C3-383B21DA06DE}"/>
              </a:ext>
            </a:extLst>
          </p:cNvPr>
          <p:cNvSpPr txBox="1"/>
          <p:nvPr/>
        </p:nvSpPr>
        <p:spPr>
          <a:xfrm>
            <a:off x="3826831" y="2248004"/>
            <a:ext cx="2540100" cy="770112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b="1" dirty="0"/>
              <a:t>DPI: </a:t>
            </a:r>
            <a:r>
              <a:rPr lang="fr" sz="1000" b="1" dirty="0" smtClean="0"/>
              <a:t>B</a:t>
            </a:r>
            <a:endParaRPr lang="fr" sz="1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b-NO" sz="1000" b="1" dirty="0" smtClean="0"/>
              <a:t>SQUADRON BUILDING</a:t>
            </a:r>
            <a:endParaRPr sz="1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dirty="0" smtClean="0"/>
              <a:t>N69 41.086 E018 54.737</a:t>
            </a:r>
            <a:r>
              <a:rPr lang="pt-BR" sz="1000" b="1" dirty="0"/>
              <a:t/>
            </a:r>
            <a:br>
              <a:rPr lang="pt-BR" sz="1000" b="1" dirty="0"/>
            </a:br>
            <a:r>
              <a:rPr lang="fr" sz="1000" b="1" dirty="0"/>
              <a:t>DPI </a:t>
            </a:r>
            <a:r>
              <a:rPr lang="fr" sz="1000" b="1" dirty="0" smtClean="0"/>
              <a:t>MSL:21FT</a:t>
            </a:r>
            <a:endParaRPr sz="1000" b="1" dirty="0"/>
          </a:p>
        </p:txBody>
      </p:sp>
      <p:sp>
        <p:nvSpPr>
          <p:cNvPr id="103" name="Isosceles Triangle 102">
            <a:extLst>
              <a:ext uri="{FF2B5EF4-FFF2-40B4-BE49-F238E27FC236}">
                <a16:creationId xmlns:a16="http://schemas.microsoft.com/office/drawing/2014/main" xmlns="" id="{56BCFFC3-3E70-5497-7B48-CF15958812B1}"/>
              </a:ext>
            </a:extLst>
          </p:cNvPr>
          <p:cNvSpPr/>
          <p:nvPr/>
        </p:nvSpPr>
        <p:spPr>
          <a:xfrm>
            <a:off x="13064584" y="5089657"/>
            <a:ext cx="436098" cy="379828"/>
          </a:xfrm>
          <a:prstGeom prst="triangl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xmlns="" id="{CE4D4541-6028-EAAD-22B9-B8C788A48AF5}"/>
              </a:ext>
            </a:extLst>
          </p:cNvPr>
          <p:cNvCxnSpPr>
            <a:cxnSpLocks/>
            <a:stCxn id="100" idx="3"/>
            <a:endCxn id="103" idx="1"/>
          </p:cNvCxnSpPr>
          <p:nvPr/>
        </p:nvCxnSpPr>
        <p:spPr>
          <a:xfrm>
            <a:off x="6366931" y="2633060"/>
            <a:ext cx="6806678" cy="2646511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7">
            <a:extLst>
              <a:ext uri="{FF2B5EF4-FFF2-40B4-BE49-F238E27FC236}">
                <a16:creationId xmlns:a16="http://schemas.microsoft.com/office/drawing/2014/main" xmlns="" id="{653F6929-DE8C-A651-43B6-EEE2BDFF7D26}"/>
              </a:ext>
            </a:extLst>
          </p:cNvPr>
          <p:cNvGrpSpPr/>
          <p:nvPr/>
        </p:nvGrpSpPr>
        <p:grpSpPr>
          <a:xfrm rot="17446621">
            <a:off x="14154237" y="2247273"/>
            <a:ext cx="559046" cy="692832"/>
            <a:chOff x="15526400" y="3343535"/>
            <a:chExt cx="1172983" cy="1324523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xmlns="" id="{13CEEFF2-4AF4-DAD2-BD04-71C077A0113B}"/>
                </a:ext>
              </a:extLst>
            </p:cNvPr>
            <p:cNvSpPr/>
            <p:nvPr/>
          </p:nvSpPr>
          <p:spPr>
            <a:xfrm>
              <a:off x="15526400" y="3343535"/>
              <a:ext cx="1172983" cy="1324523"/>
            </a:xfrm>
            <a:custGeom>
              <a:avLst/>
              <a:gdLst>
                <a:gd name="connsiteX0" fmla="*/ 351692 w 731520"/>
                <a:gd name="connsiteY0" fmla="*/ 0 h 858129"/>
                <a:gd name="connsiteX1" fmla="*/ 0 w 731520"/>
                <a:gd name="connsiteY1" fmla="*/ 858129 h 858129"/>
                <a:gd name="connsiteX2" fmla="*/ 337624 w 731520"/>
                <a:gd name="connsiteY2" fmla="*/ 647114 h 858129"/>
                <a:gd name="connsiteX3" fmla="*/ 731520 w 731520"/>
                <a:gd name="connsiteY3" fmla="*/ 844061 h 858129"/>
                <a:gd name="connsiteX4" fmla="*/ 351692 w 731520"/>
                <a:gd name="connsiteY4" fmla="*/ 0 h 858129"/>
                <a:gd name="connsiteX0" fmla="*/ 394761 w 731520"/>
                <a:gd name="connsiteY0" fmla="*/ 0 h 992212"/>
                <a:gd name="connsiteX1" fmla="*/ 0 w 731520"/>
                <a:gd name="connsiteY1" fmla="*/ 992212 h 992212"/>
                <a:gd name="connsiteX2" fmla="*/ 337624 w 731520"/>
                <a:gd name="connsiteY2" fmla="*/ 781197 h 992212"/>
                <a:gd name="connsiteX3" fmla="*/ 731520 w 731520"/>
                <a:gd name="connsiteY3" fmla="*/ 978144 h 992212"/>
                <a:gd name="connsiteX4" fmla="*/ 394761 w 731520"/>
                <a:gd name="connsiteY4" fmla="*/ 0 h 992212"/>
                <a:gd name="connsiteX0" fmla="*/ 383994 w 731520"/>
                <a:gd name="connsiteY0" fmla="*/ 0 h 992212"/>
                <a:gd name="connsiteX1" fmla="*/ 0 w 731520"/>
                <a:gd name="connsiteY1" fmla="*/ 992212 h 992212"/>
                <a:gd name="connsiteX2" fmla="*/ 337624 w 731520"/>
                <a:gd name="connsiteY2" fmla="*/ 781197 h 992212"/>
                <a:gd name="connsiteX3" fmla="*/ 731520 w 731520"/>
                <a:gd name="connsiteY3" fmla="*/ 978144 h 992212"/>
                <a:gd name="connsiteX4" fmla="*/ 383994 w 731520"/>
                <a:gd name="connsiteY4" fmla="*/ 0 h 992212"/>
                <a:gd name="connsiteX0" fmla="*/ 383994 w 957635"/>
                <a:gd name="connsiteY0" fmla="*/ 0 h 1313351"/>
                <a:gd name="connsiteX1" fmla="*/ 0 w 957635"/>
                <a:gd name="connsiteY1" fmla="*/ 992212 h 1313351"/>
                <a:gd name="connsiteX2" fmla="*/ 337624 w 957635"/>
                <a:gd name="connsiteY2" fmla="*/ 781197 h 1313351"/>
                <a:gd name="connsiteX3" fmla="*/ 957635 w 957635"/>
                <a:gd name="connsiteY3" fmla="*/ 1313351 h 1313351"/>
                <a:gd name="connsiteX4" fmla="*/ 383994 w 957635"/>
                <a:gd name="connsiteY4" fmla="*/ 0 h 1313351"/>
                <a:gd name="connsiteX0" fmla="*/ 599342 w 1172983"/>
                <a:gd name="connsiteY0" fmla="*/ 0 h 1313351"/>
                <a:gd name="connsiteX1" fmla="*/ 0 w 1172983"/>
                <a:gd name="connsiteY1" fmla="*/ 1305071 h 1313351"/>
                <a:gd name="connsiteX2" fmla="*/ 552972 w 1172983"/>
                <a:gd name="connsiteY2" fmla="*/ 781197 h 1313351"/>
                <a:gd name="connsiteX3" fmla="*/ 1172983 w 1172983"/>
                <a:gd name="connsiteY3" fmla="*/ 1313351 h 1313351"/>
                <a:gd name="connsiteX4" fmla="*/ 599342 w 1172983"/>
                <a:gd name="connsiteY4" fmla="*/ 0 h 1313351"/>
                <a:gd name="connsiteX0" fmla="*/ 599342 w 1172983"/>
                <a:gd name="connsiteY0" fmla="*/ 0 h 1313351"/>
                <a:gd name="connsiteX1" fmla="*/ 0 w 1172983"/>
                <a:gd name="connsiteY1" fmla="*/ 1305071 h 1313351"/>
                <a:gd name="connsiteX2" fmla="*/ 574507 w 1172983"/>
                <a:gd name="connsiteY2" fmla="*/ 982322 h 1313351"/>
                <a:gd name="connsiteX3" fmla="*/ 1172983 w 1172983"/>
                <a:gd name="connsiteY3" fmla="*/ 1313351 h 1313351"/>
                <a:gd name="connsiteX4" fmla="*/ 599342 w 1172983"/>
                <a:gd name="connsiteY4" fmla="*/ 0 h 1313351"/>
                <a:gd name="connsiteX0" fmla="*/ 599342 w 1172983"/>
                <a:gd name="connsiteY0" fmla="*/ 0 h 1302177"/>
                <a:gd name="connsiteX1" fmla="*/ 0 w 1172983"/>
                <a:gd name="connsiteY1" fmla="*/ 1293897 h 1302177"/>
                <a:gd name="connsiteX2" fmla="*/ 574507 w 1172983"/>
                <a:gd name="connsiteY2" fmla="*/ 971148 h 1302177"/>
                <a:gd name="connsiteX3" fmla="*/ 1172983 w 1172983"/>
                <a:gd name="connsiteY3" fmla="*/ 1302177 h 1302177"/>
                <a:gd name="connsiteX4" fmla="*/ 599342 w 1172983"/>
                <a:gd name="connsiteY4" fmla="*/ 0 h 1302177"/>
                <a:gd name="connsiteX0" fmla="*/ 599342 w 1172983"/>
                <a:gd name="connsiteY0" fmla="*/ 0 h 1302177"/>
                <a:gd name="connsiteX1" fmla="*/ 0 w 1172983"/>
                <a:gd name="connsiteY1" fmla="*/ 1293897 h 1302177"/>
                <a:gd name="connsiteX2" fmla="*/ 574507 w 1172983"/>
                <a:gd name="connsiteY2" fmla="*/ 971148 h 1302177"/>
                <a:gd name="connsiteX3" fmla="*/ 1172983 w 1172983"/>
                <a:gd name="connsiteY3" fmla="*/ 1302177 h 1302177"/>
                <a:gd name="connsiteX4" fmla="*/ 599342 w 1172983"/>
                <a:gd name="connsiteY4" fmla="*/ 0 h 1302177"/>
                <a:gd name="connsiteX0" fmla="*/ 567040 w 1172983"/>
                <a:gd name="connsiteY0" fmla="*/ 0 h 1302177"/>
                <a:gd name="connsiteX1" fmla="*/ 0 w 1172983"/>
                <a:gd name="connsiteY1" fmla="*/ 1293897 h 1302177"/>
                <a:gd name="connsiteX2" fmla="*/ 574507 w 1172983"/>
                <a:gd name="connsiteY2" fmla="*/ 971148 h 1302177"/>
                <a:gd name="connsiteX3" fmla="*/ 1172983 w 1172983"/>
                <a:gd name="connsiteY3" fmla="*/ 1302177 h 1302177"/>
                <a:gd name="connsiteX4" fmla="*/ 567040 w 1172983"/>
                <a:gd name="connsiteY4" fmla="*/ 0 h 1302177"/>
                <a:gd name="connsiteX0" fmla="*/ 567040 w 1172983"/>
                <a:gd name="connsiteY0" fmla="*/ 0 h 1291003"/>
                <a:gd name="connsiteX1" fmla="*/ 0 w 1172983"/>
                <a:gd name="connsiteY1" fmla="*/ 1282723 h 1291003"/>
                <a:gd name="connsiteX2" fmla="*/ 574507 w 1172983"/>
                <a:gd name="connsiteY2" fmla="*/ 959974 h 1291003"/>
                <a:gd name="connsiteX3" fmla="*/ 1172983 w 1172983"/>
                <a:gd name="connsiteY3" fmla="*/ 1291003 h 1291003"/>
                <a:gd name="connsiteX4" fmla="*/ 567040 w 1172983"/>
                <a:gd name="connsiteY4" fmla="*/ 0 h 1291003"/>
                <a:gd name="connsiteX0" fmla="*/ 577807 w 1172983"/>
                <a:gd name="connsiteY0" fmla="*/ 0 h 1190441"/>
                <a:gd name="connsiteX1" fmla="*/ 0 w 1172983"/>
                <a:gd name="connsiteY1" fmla="*/ 1182161 h 1190441"/>
                <a:gd name="connsiteX2" fmla="*/ 574507 w 1172983"/>
                <a:gd name="connsiteY2" fmla="*/ 859412 h 1190441"/>
                <a:gd name="connsiteX3" fmla="*/ 1172983 w 1172983"/>
                <a:gd name="connsiteY3" fmla="*/ 1190441 h 1190441"/>
                <a:gd name="connsiteX4" fmla="*/ 577807 w 1172983"/>
                <a:gd name="connsiteY4" fmla="*/ 0 h 1190441"/>
                <a:gd name="connsiteX0" fmla="*/ 577807 w 1172983"/>
                <a:gd name="connsiteY0" fmla="*/ 0 h 933449"/>
                <a:gd name="connsiteX1" fmla="*/ 0 w 1172983"/>
                <a:gd name="connsiteY1" fmla="*/ 925169 h 933449"/>
                <a:gd name="connsiteX2" fmla="*/ 574507 w 1172983"/>
                <a:gd name="connsiteY2" fmla="*/ 602420 h 933449"/>
                <a:gd name="connsiteX3" fmla="*/ 1172983 w 1172983"/>
                <a:gd name="connsiteY3" fmla="*/ 933449 h 933449"/>
                <a:gd name="connsiteX4" fmla="*/ 577807 w 1172983"/>
                <a:gd name="connsiteY4" fmla="*/ 0 h 933449"/>
                <a:gd name="connsiteX0" fmla="*/ 599342 w 1172983"/>
                <a:gd name="connsiteY0" fmla="*/ 0 h 1324524"/>
                <a:gd name="connsiteX1" fmla="*/ 0 w 1172983"/>
                <a:gd name="connsiteY1" fmla="*/ 1316244 h 1324524"/>
                <a:gd name="connsiteX2" fmla="*/ 574507 w 1172983"/>
                <a:gd name="connsiteY2" fmla="*/ 993495 h 1324524"/>
                <a:gd name="connsiteX3" fmla="*/ 1172983 w 1172983"/>
                <a:gd name="connsiteY3" fmla="*/ 1324524 h 1324524"/>
                <a:gd name="connsiteX4" fmla="*/ 599342 w 1172983"/>
                <a:gd name="connsiteY4" fmla="*/ 0 h 1324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2983" h="1324524">
                  <a:moveTo>
                    <a:pt x="599342" y="0"/>
                  </a:moveTo>
                  <a:lnTo>
                    <a:pt x="0" y="1316244"/>
                  </a:lnTo>
                  <a:lnTo>
                    <a:pt x="574507" y="993495"/>
                  </a:lnTo>
                  <a:lnTo>
                    <a:pt x="1172983" y="1324524"/>
                  </a:lnTo>
                  <a:lnTo>
                    <a:pt x="599342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Google Shape;66;p14">
              <a:extLst>
                <a:ext uri="{FF2B5EF4-FFF2-40B4-BE49-F238E27FC236}">
                  <a16:creationId xmlns:a16="http://schemas.microsoft.com/office/drawing/2014/main" xmlns="" id="{73039EFB-C636-CE90-0EA4-A2FD38679206}"/>
                </a:ext>
              </a:extLst>
            </p:cNvPr>
            <p:cNvSpPr txBox="1"/>
            <p:nvPr/>
          </p:nvSpPr>
          <p:spPr>
            <a:xfrm>
              <a:off x="15716513" y="3587815"/>
              <a:ext cx="502201" cy="6498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2400" b="1" dirty="0">
                  <a:solidFill>
                    <a:sysClr val="windowText" lastClr="000000"/>
                  </a:solidFill>
                </a:rPr>
                <a:t>N</a:t>
              </a:r>
              <a:endParaRPr sz="2400" b="1" dirty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37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131311" y="19456"/>
            <a:ext cx="2220868" cy="189742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41" name="Rektangel 11">
            <a:extLst>
              <a:ext uri="{FF2B5EF4-FFF2-40B4-BE49-F238E27FC236}">
                <a16:creationId xmlns:a16="http://schemas.microsoft.com/office/drawing/2014/main" xmlns="" id="{FF272179-214C-058E-FD42-C186C1307BBA}"/>
              </a:ext>
            </a:extLst>
          </p:cNvPr>
          <p:cNvSpPr/>
          <p:nvPr/>
        </p:nvSpPr>
        <p:spPr>
          <a:xfrm flipV="1">
            <a:off x="9976566" y="469404"/>
            <a:ext cx="139449" cy="14968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7369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8F6B5C9D-0E96-641D-BBC4-F5508DEF16CE}"/>
              </a:ext>
            </a:extLst>
          </p:cNvPr>
          <p:cNvGrpSpPr/>
          <p:nvPr/>
        </p:nvGrpSpPr>
        <p:grpSpPr>
          <a:xfrm>
            <a:off x="0" y="0"/>
            <a:ext cx="15119350" cy="1980670"/>
            <a:chOff x="0" y="0"/>
            <a:chExt cx="15119350" cy="198067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xmlns="" id="{4F360452-E4A3-BD5B-15FF-00DAA4FB28F2}"/>
                </a:ext>
              </a:extLst>
            </p:cNvPr>
            <p:cNvSpPr/>
            <p:nvPr/>
          </p:nvSpPr>
          <p:spPr>
            <a:xfrm>
              <a:off x="0" y="1616"/>
              <a:ext cx="15119350" cy="19199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BE: SRNTGT101  CATCODE: 54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MIDB GEO: N 69 03.636 E 033 26.451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ICOD: 05JAN2024 DOI:05JAN2024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xmlns="" id="{9BCDCC94-4BDE-95A5-27FA-5CFAF41DCECC}"/>
                </a:ext>
              </a:extLst>
            </p:cNvPr>
            <p:cNvSpPr txBox="1"/>
            <p:nvPr/>
          </p:nvSpPr>
          <p:spPr>
            <a:xfrm>
              <a:off x="9114792" y="556201"/>
              <a:ext cx="223253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MAP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OVERVIEW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xmlns="" id="{DDE1622A-BE49-4E31-B801-44EFAFBEAAAB}"/>
                </a:ext>
              </a:extLst>
            </p:cNvPr>
            <p:cNvGrpSpPr/>
            <p:nvPr/>
          </p:nvGrpSpPr>
          <p:grpSpPr>
            <a:xfrm>
              <a:off x="1" y="0"/>
              <a:ext cx="15119349" cy="1921524"/>
              <a:chOff x="1" y="-1616"/>
              <a:chExt cx="15119349" cy="1921524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xmlns="" id="{AF50480C-33D3-AD57-D609-81BD289E4B27}"/>
                  </a:ext>
                </a:extLst>
              </p:cNvPr>
              <p:cNvSpPr/>
              <p:nvPr/>
            </p:nvSpPr>
            <p:spPr>
              <a:xfrm>
                <a:off x="2447778" y="0"/>
                <a:ext cx="6668087" cy="78779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xmlns="" id="{B308853A-8B0A-5597-2DD6-C3C3CC5666BF}"/>
                  </a:ext>
                </a:extLst>
              </p:cNvPr>
              <p:cNvSpPr/>
              <p:nvPr/>
            </p:nvSpPr>
            <p:spPr>
              <a:xfrm>
                <a:off x="2447567" y="787791"/>
                <a:ext cx="6668087" cy="113211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xmlns="" id="{4DC1A624-2342-2AF4-57E2-69BD1F38E808}"/>
                  </a:ext>
                </a:extLst>
              </p:cNvPr>
              <p:cNvSpPr/>
              <p:nvPr/>
            </p:nvSpPr>
            <p:spPr>
              <a:xfrm>
                <a:off x="9115654" y="0"/>
                <a:ext cx="2251041" cy="191990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xmlns="" id="{0FE5FB3B-6147-EAFD-BB04-A347AB1BFBAA}"/>
                  </a:ext>
                </a:extLst>
              </p:cNvPr>
              <p:cNvSpPr/>
              <p:nvPr/>
            </p:nvSpPr>
            <p:spPr>
              <a:xfrm>
                <a:off x="11366695" y="-1616"/>
                <a:ext cx="3752655" cy="78779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xmlns="" id="{DCB3E5BC-E3EC-15CB-92D4-5598F3BD7831}"/>
                  </a:ext>
                </a:extLst>
              </p:cNvPr>
              <p:cNvSpPr/>
              <p:nvPr/>
            </p:nvSpPr>
            <p:spPr>
              <a:xfrm>
                <a:off x="11366694" y="786175"/>
                <a:ext cx="3752655" cy="113373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xmlns="" id="{C37A9941-AB64-7785-063B-9FA0DE178B18}"/>
                  </a:ext>
                </a:extLst>
              </p:cNvPr>
              <p:cNvSpPr/>
              <p:nvPr/>
            </p:nvSpPr>
            <p:spPr>
              <a:xfrm>
                <a:off x="1" y="0"/>
                <a:ext cx="2446916" cy="191990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DB50F456-7801-C713-EE10-8DFFBF6407DB}"/>
                </a:ext>
              </a:extLst>
            </p:cNvPr>
            <p:cNvSpPr txBox="1"/>
            <p:nvPr/>
          </p:nvSpPr>
          <p:spPr>
            <a:xfrm>
              <a:off x="2446917" y="21481"/>
              <a:ext cx="665043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GB" sz="2000" b="1" dirty="0" smtClean="0"/>
                <a:t>TROMSØ Airfield, REDLAND</a:t>
              </a:r>
              <a:endParaRPr lang="en-GB" sz="2000"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55E97727-8906-7209-F5E5-1532D33F750B}"/>
                </a:ext>
              </a:extLst>
            </p:cNvPr>
            <p:cNvSpPr txBox="1"/>
            <p:nvPr/>
          </p:nvSpPr>
          <p:spPr>
            <a:xfrm>
              <a:off x="2429057" y="945322"/>
              <a:ext cx="3621504" cy="78483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lvl="0"/>
              <a:r>
                <a:rPr lang="en-GB" sz="1500" b="1" dirty="0" smtClean="0"/>
                <a:t>BE: TRMATGT004  CATCODE: 3</a:t>
              </a:r>
            </a:p>
            <a:p>
              <a:pPr lvl="0"/>
              <a:r>
                <a:rPr lang="en-GB" sz="1500" b="1" dirty="0" smtClean="0"/>
                <a:t>MIDB GEO: </a:t>
              </a:r>
              <a:r>
                <a:rPr lang="pt-BR" sz="1500" b="1" dirty="0" smtClean="0"/>
                <a:t>N69˚40.800 E018˚55.800</a:t>
              </a:r>
              <a:endParaRPr lang="en-GB" sz="1500" b="1" dirty="0" smtClean="0"/>
            </a:p>
            <a:p>
              <a:pPr lvl="0"/>
              <a:r>
                <a:rPr lang="en-GB" sz="1500" b="1" dirty="0" smtClean="0"/>
                <a:t>ICOD</a:t>
              </a:r>
              <a:r>
                <a:rPr lang="en-GB" sz="1500" b="1" dirty="0" smtClean="0"/>
                <a:t>: 2011-JUL-06 DOI:2011-JUL-06</a:t>
              </a:r>
              <a:endParaRPr lang="en-GB" sz="1500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3E337C58-CA38-8421-7626-D6A6B710DD4E}"/>
                </a:ext>
              </a:extLst>
            </p:cNvPr>
            <p:cNvSpPr txBox="1"/>
            <p:nvPr/>
          </p:nvSpPr>
          <p:spPr>
            <a:xfrm>
              <a:off x="11364760" y="79905"/>
              <a:ext cx="3752655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/>
              <a:r>
                <a:rPr lang="en-GB" sz="2000" b="1" dirty="0" smtClean="0"/>
                <a:t>TRMA CLASSIFIED</a:t>
              </a:r>
              <a:br>
                <a:rPr lang="en-GB" sz="2000" b="1" dirty="0" smtClean="0"/>
              </a:br>
              <a:r>
                <a:rPr lang="en-GB" sz="2000" b="1" dirty="0" smtClean="0"/>
                <a:t>REL TO 132nd</a:t>
              </a:r>
              <a:endParaRPr lang="en-GB" sz="20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D4DE7820-08A9-9299-F6B3-75AC0F17AF66}"/>
                </a:ext>
              </a:extLst>
            </p:cNvPr>
            <p:cNvSpPr txBox="1"/>
            <p:nvPr/>
          </p:nvSpPr>
          <p:spPr>
            <a:xfrm>
              <a:off x="11347323" y="1112228"/>
              <a:ext cx="37700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DECL ON: 2061-JUL-06</a:t>
              </a:r>
            </a:p>
          </p:txBody>
        </p:sp>
        <p:pic>
          <p:nvPicPr>
            <p:cNvPr id="11" name="Picture 10" descr="D:\GIT PROJECTS\OPAT-background\Virtual Intelligence Service only logo.PNG">
              <a:extLst>
                <a:ext uri="{FF2B5EF4-FFF2-40B4-BE49-F238E27FC236}">
                  <a16:creationId xmlns:a16="http://schemas.microsoft.com/office/drawing/2014/main" xmlns="" id="{043F5A54-E325-9261-6AF7-0A65C22EF5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8686" y="21695"/>
              <a:ext cx="2225675" cy="1958975"/>
            </a:xfrm>
            <a:prstGeom prst="rect">
              <a:avLst/>
            </a:prstGeom>
            <a:noFill/>
          </p:spPr>
        </p:pic>
      </p:grpSp>
      <p:graphicFrame>
        <p:nvGraphicFramePr>
          <p:cNvPr id="182" name="Google Shape;182;p21"/>
          <p:cNvGraphicFramePr/>
          <p:nvPr>
            <p:extLst>
              <p:ext uri="{D42A27DB-BD31-4B8C-83A1-F6EECF244321}">
                <p14:modId xmlns:p14="http://schemas.microsoft.com/office/powerpoint/2010/main" xmlns="" val="263317672"/>
              </p:ext>
            </p:extLst>
          </p:nvPr>
        </p:nvGraphicFramePr>
        <p:xfrm>
          <a:off x="-25" y="2586435"/>
          <a:ext cx="15119950" cy="7595106"/>
        </p:xfrm>
        <a:graphic>
          <a:graphicData uri="http://schemas.openxmlformats.org/drawingml/2006/table">
            <a:tbl>
              <a:tblPr>
                <a:noFill/>
                <a:tableStyleId>{85EE82D6-AF98-40BB-A63E-5EA55E4C3481}</a:tableStyleId>
              </a:tblPr>
              <a:tblGrid>
                <a:gridCol w="13080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724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333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3337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53337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9793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417008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 b="1" dirty="0">
                          <a:solidFill>
                            <a:schemeClr val="lt1"/>
                          </a:solidFill>
                        </a:rPr>
                        <a:t>JDPI</a:t>
                      </a: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 b="1">
                          <a:solidFill>
                            <a:schemeClr val="lt1"/>
                          </a:solidFill>
                        </a:rPr>
                        <a:t>DESCRIPTION</a:t>
                      </a: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 b="1">
                          <a:solidFill>
                            <a:schemeClr val="lt1"/>
                          </a:solidFill>
                        </a:rPr>
                        <a:t>TLE</a:t>
                      </a: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 b="1">
                          <a:solidFill>
                            <a:schemeClr val="lt1"/>
                          </a:solidFill>
                        </a:rPr>
                        <a:t>WARHEAD</a:t>
                      </a: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 b="1">
                          <a:solidFill>
                            <a:schemeClr val="lt1"/>
                          </a:solidFill>
                        </a:rPr>
                        <a:t>GUIDANCE</a:t>
                      </a: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 b="1" dirty="0">
                          <a:solidFill>
                            <a:schemeClr val="lt1"/>
                          </a:solidFill>
                        </a:rPr>
                        <a:t>DESIRED EFFECT</a:t>
                      </a:r>
                      <a:endParaRPr sz="16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 b="1">
                          <a:solidFill>
                            <a:schemeClr val="lt1"/>
                          </a:solidFill>
                        </a:rPr>
                        <a:t>IMPACT ANGLE</a:t>
                      </a: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 b="1">
                          <a:solidFill>
                            <a:schemeClr val="lt1"/>
                          </a:solidFill>
                        </a:rPr>
                        <a:t>FUZING</a:t>
                      </a: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/>
                        <a:t>A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smtClean="0"/>
                        <a:t>INTELLIGENCE OFFICE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solidFill>
                            <a:schemeClr val="dk1"/>
                          </a:solidFill>
                        </a:rPr>
                        <a:t>CAT 2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smtClean="0"/>
                        <a:t>500 </a:t>
                      </a:r>
                      <a:r>
                        <a:rPr lang="en-GB" dirty="0"/>
                        <a:t>lbs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smtClean="0"/>
                        <a:t>METRIC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BLAST, FRAGMENTATION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smtClean="0"/>
                        <a:t>N/A</a:t>
                      </a:r>
                      <a:endParaRPr lang="en-GB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smtClean="0"/>
                        <a:t>0MS</a:t>
                      </a:r>
                      <a:endParaRPr lang="en-GB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B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smtClean="0"/>
                        <a:t>SQUADRON BUILDING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CAT 2</a:t>
                      </a:r>
                      <a:endParaRPr kumimoji="0" lang="en-GB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dirty="0" smtClean="0"/>
                        <a:t>500 </a:t>
                      </a:r>
                      <a:r>
                        <a:rPr lang="en-GB" dirty="0"/>
                        <a:t>lbs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smtClean="0"/>
                        <a:t>METRIC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/>
                        <a:t>BLAST, FRAGMENTATION</a:t>
                      </a:r>
                      <a:endParaRPr lang="en-GB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smtClean="0"/>
                        <a:t>N/A</a:t>
                      </a:r>
                      <a:endParaRPr lang="en-GB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smtClean="0"/>
                        <a:t>0MS</a:t>
                      </a:r>
                      <a:endParaRPr lang="en-GB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C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dirty="0" smtClean="0"/>
                        <a:t>RUNWAY</a:t>
                      </a:r>
                      <a:endParaRPr lang="en-GB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CAT 2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500 </a:t>
                      </a:r>
                      <a:r>
                        <a:rPr kumimoji="0" lang="en-GB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lbs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dirty="0"/>
                        <a:t>METRIC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BLAST, FRAGMENTATION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smtClean="0"/>
                        <a:t>N/A</a:t>
                      </a:r>
                      <a:endParaRPr lang="en-GB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smtClean="0"/>
                        <a:t>0MS</a:t>
                      </a:r>
                      <a:endParaRPr lang="en-GB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D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dirty="0" smtClean="0"/>
                        <a:t>RUNWAY</a:t>
                      </a:r>
                      <a:endParaRPr lang="en-GB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CAT 2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500 </a:t>
                      </a:r>
                      <a:r>
                        <a:rPr kumimoji="0" lang="en-GB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lbs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dirty="0"/>
                        <a:t>METRIC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BLAST, FRAGMENTATION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smtClean="0"/>
                        <a:t>N/A</a:t>
                      </a:r>
                      <a:endParaRPr lang="en-GB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smtClean="0"/>
                        <a:t>0MS</a:t>
                      </a:r>
                      <a:endParaRPr lang="en-GB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GB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GB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GB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GB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GB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GB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GB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GB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GB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GB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GB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GB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GB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GB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GB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GB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GB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GB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GB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8FAA0F84-9802-25C0-1DC9-5A41CA09B864}"/>
              </a:ext>
            </a:extLst>
          </p:cNvPr>
          <p:cNvSpPr txBox="1"/>
          <p:nvPr/>
        </p:nvSpPr>
        <p:spPr>
          <a:xfrm>
            <a:off x="2444982" y="369662"/>
            <a:ext cx="66504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WEAPONEERING OPTIONS 1/1</a:t>
            </a:r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131311" y="19456"/>
            <a:ext cx="2220868" cy="189742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23" name="Rektangel 11">
            <a:extLst>
              <a:ext uri="{FF2B5EF4-FFF2-40B4-BE49-F238E27FC236}">
                <a16:creationId xmlns:a16="http://schemas.microsoft.com/office/drawing/2014/main" xmlns="" id="{FF272179-214C-058E-FD42-C186C1307BBA}"/>
              </a:ext>
            </a:extLst>
          </p:cNvPr>
          <p:cNvSpPr/>
          <p:nvPr/>
        </p:nvSpPr>
        <p:spPr>
          <a:xfrm flipV="1">
            <a:off x="9976566" y="469404"/>
            <a:ext cx="139449" cy="14968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2"/>
          <p:cNvPicPr>
            <a:picLocks noChangeAspect="1" noChangeArrowheads="1"/>
          </p:cNvPicPr>
          <p:nvPr/>
        </p:nvPicPr>
        <p:blipFill>
          <a:blip r:embed="rId3"/>
          <a:srcRect r="3361"/>
          <a:stretch>
            <a:fillRect/>
          </a:stretch>
        </p:blipFill>
        <p:spPr bwMode="auto">
          <a:xfrm>
            <a:off x="0" y="1935538"/>
            <a:ext cx="15119350" cy="875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xmlns="" id="{92DDC741-E84D-51D5-1344-9A9FCA31CEA3}"/>
              </a:ext>
            </a:extLst>
          </p:cNvPr>
          <p:cNvGrpSpPr/>
          <p:nvPr/>
        </p:nvGrpSpPr>
        <p:grpSpPr>
          <a:xfrm>
            <a:off x="0" y="0"/>
            <a:ext cx="15119350" cy="1980670"/>
            <a:chOff x="0" y="0"/>
            <a:chExt cx="15119350" cy="198067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xmlns="" id="{96B2E920-CB9F-7456-E6B6-CA3FE5832E57}"/>
                </a:ext>
              </a:extLst>
            </p:cNvPr>
            <p:cNvSpPr/>
            <p:nvPr/>
          </p:nvSpPr>
          <p:spPr>
            <a:xfrm>
              <a:off x="0" y="1616"/>
              <a:ext cx="15119350" cy="19199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BE: SRNTGT101  CATCODE: 54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MIDB GEO: N 69 03.636 E 033 26.451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ICOD: 05JAN2024 DOI:05JAN2024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5F78876E-FE95-CD97-8093-1B0DC748F123}"/>
                </a:ext>
              </a:extLst>
            </p:cNvPr>
            <p:cNvSpPr txBox="1"/>
            <p:nvPr/>
          </p:nvSpPr>
          <p:spPr>
            <a:xfrm>
              <a:off x="9114792" y="556201"/>
              <a:ext cx="223253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MAP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OVERVIEW</a:t>
              </a: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xmlns="" id="{FD1E7EB0-E669-D9BC-12A7-3393C66186A1}"/>
                </a:ext>
              </a:extLst>
            </p:cNvPr>
            <p:cNvGrpSpPr/>
            <p:nvPr/>
          </p:nvGrpSpPr>
          <p:grpSpPr>
            <a:xfrm>
              <a:off x="1" y="0"/>
              <a:ext cx="15119349" cy="1921524"/>
              <a:chOff x="1" y="-1616"/>
              <a:chExt cx="15119349" cy="1921524"/>
            </a:xfrm>
          </p:grpSpPr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xmlns="" id="{4F798E63-22A4-3D14-17D9-09E1CB9DEFB1}"/>
                  </a:ext>
                </a:extLst>
              </p:cNvPr>
              <p:cNvSpPr/>
              <p:nvPr/>
            </p:nvSpPr>
            <p:spPr>
              <a:xfrm>
                <a:off x="2447778" y="0"/>
                <a:ext cx="6668087" cy="78779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xmlns="" id="{9F113878-2324-3772-72FD-EFF497FAEEB0}"/>
                  </a:ext>
                </a:extLst>
              </p:cNvPr>
              <p:cNvSpPr/>
              <p:nvPr/>
            </p:nvSpPr>
            <p:spPr>
              <a:xfrm>
                <a:off x="2447567" y="787791"/>
                <a:ext cx="6668087" cy="113211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xmlns="" id="{5C394E6A-C341-79B3-6638-E3A6284E6884}"/>
                  </a:ext>
                </a:extLst>
              </p:cNvPr>
              <p:cNvSpPr/>
              <p:nvPr/>
            </p:nvSpPr>
            <p:spPr>
              <a:xfrm>
                <a:off x="9115654" y="0"/>
                <a:ext cx="2251041" cy="191990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xmlns="" id="{7FC1C52F-4232-F285-859C-DD929A0E4393}"/>
                  </a:ext>
                </a:extLst>
              </p:cNvPr>
              <p:cNvSpPr/>
              <p:nvPr/>
            </p:nvSpPr>
            <p:spPr>
              <a:xfrm>
                <a:off x="11366695" y="-1616"/>
                <a:ext cx="3752655" cy="78779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xmlns="" id="{D543662B-852E-9555-7B11-18DD63441D89}"/>
                  </a:ext>
                </a:extLst>
              </p:cNvPr>
              <p:cNvSpPr/>
              <p:nvPr/>
            </p:nvSpPr>
            <p:spPr>
              <a:xfrm>
                <a:off x="11366694" y="786175"/>
                <a:ext cx="3752655" cy="113373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xmlns="" id="{6FC453D2-A673-985D-81E2-F856C0AFBC11}"/>
                  </a:ext>
                </a:extLst>
              </p:cNvPr>
              <p:cNvSpPr/>
              <p:nvPr/>
            </p:nvSpPr>
            <p:spPr>
              <a:xfrm>
                <a:off x="1" y="0"/>
                <a:ext cx="2446916" cy="191990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xmlns="" id="{269ED20B-2921-B2BA-17FF-0C0134DDB0B5}"/>
                </a:ext>
              </a:extLst>
            </p:cNvPr>
            <p:cNvSpPr txBox="1"/>
            <p:nvPr/>
          </p:nvSpPr>
          <p:spPr>
            <a:xfrm>
              <a:off x="2446917" y="21481"/>
              <a:ext cx="665043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GB" sz="2000" b="1" dirty="0" smtClean="0"/>
                <a:t>TROMSØ Airfield, REDLAND</a:t>
              </a:r>
              <a:endParaRPr lang="en-GB" sz="2000" b="1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xmlns="" id="{B537DE1D-01B6-6538-2EAF-09BF65143391}"/>
                </a:ext>
              </a:extLst>
            </p:cNvPr>
            <p:cNvSpPr txBox="1"/>
            <p:nvPr/>
          </p:nvSpPr>
          <p:spPr>
            <a:xfrm>
              <a:off x="2429057" y="945322"/>
              <a:ext cx="3621504" cy="78483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lvl="0"/>
              <a:r>
                <a:rPr lang="en-GB" sz="1500" b="1" dirty="0" smtClean="0"/>
                <a:t>BE: TRMATGT004  CATCODE: 3</a:t>
              </a:r>
            </a:p>
            <a:p>
              <a:pPr lvl="0"/>
              <a:r>
                <a:rPr lang="en-GB" sz="1500" b="1" dirty="0" smtClean="0"/>
                <a:t>MIDB GEO: </a:t>
              </a:r>
              <a:r>
                <a:rPr lang="pt-BR" sz="1500" b="1" dirty="0" smtClean="0"/>
                <a:t>N69˚40.800 E018˚55.800</a:t>
              </a:r>
              <a:endParaRPr lang="en-GB" sz="1500" b="1" dirty="0" smtClean="0"/>
            </a:p>
            <a:p>
              <a:pPr lvl="0"/>
              <a:r>
                <a:rPr lang="en-GB" sz="1500" b="1" dirty="0" smtClean="0"/>
                <a:t>ICOD</a:t>
              </a:r>
              <a:r>
                <a:rPr lang="en-GB" sz="1500" b="1" dirty="0" smtClean="0"/>
                <a:t>: 2011-JUL-06 DOI:2011-JUL-06</a:t>
              </a:r>
              <a:endParaRPr lang="en-GB" sz="1500" b="1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xmlns="" id="{75664032-A8FC-A4BE-260A-20528992FE79}"/>
                </a:ext>
              </a:extLst>
            </p:cNvPr>
            <p:cNvSpPr txBox="1"/>
            <p:nvPr/>
          </p:nvSpPr>
          <p:spPr>
            <a:xfrm>
              <a:off x="11364760" y="79905"/>
              <a:ext cx="3752655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/>
              <a:r>
                <a:rPr lang="en-GB" sz="2000" b="1" dirty="0" smtClean="0"/>
                <a:t>TRMA CLASSIFIED</a:t>
              </a:r>
              <a:br>
                <a:rPr lang="en-GB" sz="2000" b="1" dirty="0" smtClean="0"/>
              </a:br>
              <a:r>
                <a:rPr lang="en-GB" sz="2000" b="1" dirty="0" smtClean="0"/>
                <a:t>REL TO 132nd</a:t>
              </a:r>
              <a:endParaRPr lang="en-GB" sz="2000" b="1" dirty="0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xmlns="" id="{D157B3E3-DC4E-BBF5-7F1C-A30F1A5322BD}"/>
                </a:ext>
              </a:extLst>
            </p:cNvPr>
            <p:cNvSpPr txBox="1"/>
            <p:nvPr/>
          </p:nvSpPr>
          <p:spPr>
            <a:xfrm>
              <a:off x="11347323" y="1112228"/>
              <a:ext cx="37700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DECL ON: 2061-JUL-06</a:t>
              </a:r>
            </a:p>
          </p:txBody>
        </p:sp>
        <p:pic>
          <p:nvPicPr>
            <p:cNvPr id="129" name="Picture 128" descr="D:\GIT PROJECTS\OPAT-background\Virtual Intelligence Service only logo.PNG">
              <a:extLst>
                <a:ext uri="{FF2B5EF4-FFF2-40B4-BE49-F238E27FC236}">
                  <a16:creationId xmlns:a16="http://schemas.microsoft.com/office/drawing/2014/main" xmlns="" id="{66E745EA-E773-516A-CAA8-20617D5F4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8686" y="21695"/>
              <a:ext cx="2225675" cy="1958975"/>
            </a:xfrm>
            <a:prstGeom prst="rect">
              <a:avLst/>
            </a:prstGeom>
            <a:noFill/>
          </p:spPr>
        </p:pic>
      </p:grpSp>
      <p:grpSp>
        <p:nvGrpSpPr>
          <p:cNvPr id="192" name="Google Shape;192;p22"/>
          <p:cNvGrpSpPr/>
          <p:nvPr/>
        </p:nvGrpSpPr>
        <p:grpSpPr>
          <a:xfrm>
            <a:off x="6166885" y="5988218"/>
            <a:ext cx="1631384" cy="422850"/>
            <a:chOff x="3945100" y="6965375"/>
            <a:chExt cx="1619400" cy="422850"/>
          </a:xfrm>
        </p:grpSpPr>
        <p:sp>
          <p:nvSpPr>
            <p:cNvPr id="193" name="Google Shape;193;p22"/>
            <p:cNvSpPr txBox="1"/>
            <p:nvPr/>
          </p:nvSpPr>
          <p:spPr>
            <a:xfrm>
              <a:off x="3945100" y="6965375"/>
              <a:ext cx="892500" cy="2841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b="1" dirty="0">
                  <a:solidFill>
                    <a:schemeClr val="dk1"/>
                  </a:solidFill>
                </a:rPr>
                <a:t>DPI A</a:t>
              </a:r>
              <a:endParaRPr b="1" dirty="0">
                <a:solidFill>
                  <a:schemeClr val="dk1"/>
                </a:solidFill>
              </a:endParaRPr>
            </a:p>
          </p:txBody>
        </p:sp>
        <p:cxnSp>
          <p:nvCxnSpPr>
            <p:cNvPr id="194" name="Google Shape;194;p22"/>
            <p:cNvCxnSpPr/>
            <p:nvPr/>
          </p:nvCxnSpPr>
          <p:spPr>
            <a:xfrm>
              <a:off x="4837600" y="7107425"/>
              <a:ext cx="726900" cy="280800"/>
            </a:xfrm>
            <a:prstGeom prst="straightConnector1">
              <a:avLst/>
            </a:prstGeom>
            <a:noFill/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5" name="Google Shape;195;p22"/>
          <p:cNvGrpSpPr/>
          <p:nvPr/>
        </p:nvGrpSpPr>
        <p:grpSpPr>
          <a:xfrm>
            <a:off x="-5786584" y="6665777"/>
            <a:ext cx="1964967" cy="1699036"/>
            <a:chOff x="4046450" y="9197310"/>
            <a:chExt cx="1964967" cy="1699036"/>
          </a:xfrm>
        </p:grpSpPr>
        <p:sp>
          <p:nvSpPr>
            <p:cNvPr id="196" name="Google Shape;196;p22"/>
            <p:cNvSpPr txBox="1"/>
            <p:nvPr/>
          </p:nvSpPr>
          <p:spPr>
            <a:xfrm>
              <a:off x="4046450" y="10400333"/>
              <a:ext cx="1746900" cy="496013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000" b="1" dirty="0"/>
                <a:t>NCC: </a:t>
              </a:r>
              <a:r>
                <a:rPr lang="en-GB" sz="1000" b="1" dirty="0"/>
                <a:t>INDUSTRIAL UNITS</a:t>
              </a:r>
              <a:endParaRPr sz="1000" b="1"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000" b="1" dirty="0"/>
                <a:t>100FT W FROM DPI A</a:t>
              </a:r>
              <a:endParaRPr sz="1000" b="1" dirty="0"/>
            </a:p>
          </p:txBody>
        </p:sp>
        <p:cxnSp>
          <p:nvCxnSpPr>
            <p:cNvPr id="197" name="Google Shape;197;p22"/>
            <p:cNvCxnSpPr>
              <a:cxnSpLocks/>
              <a:stCxn id="196" idx="0"/>
            </p:cNvCxnSpPr>
            <p:nvPr/>
          </p:nvCxnSpPr>
          <p:spPr>
            <a:xfrm flipV="1">
              <a:off x="4919900" y="9197310"/>
              <a:ext cx="1091517" cy="1203023"/>
            </a:xfrm>
            <a:prstGeom prst="straightConnector1">
              <a:avLst/>
            </a:prstGeom>
            <a:noFill/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9" name="Google Shape;199;p22"/>
          <p:cNvGrpSpPr/>
          <p:nvPr/>
        </p:nvGrpSpPr>
        <p:grpSpPr>
          <a:xfrm>
            <a:off x="8991944" y="2754552"/>
            <a:ext cx="2256571" cy="2238789"/>
            <a:chOff x="11308423" y="1649568"/>
            <a:chExt cx="2519373" cy="2238789"/>
          </a:xfrm>
        </p:grpSpPr>
        <p:sp>
          <p:nvSpPr>
            <p:cNvPr id="200" name="Google Shape;200;p22"/>
            <p:cNvSpPr txBox="1"/>
            <p:nvPr/>
          </p:nvSpPr>
          <p:spPr>
            <a:xfrm>
              <a:off x="12703549" y="1649568"/>
              <a:ext cx="1124247" cy="316343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000" b="1" dirty="0"/>
                <a:t>2</a:t>
              </a:r>
              <a:r>
                <a:rPr lang="fr" sz="1000" b="1" dirty="0" smtClean="0"/>
                <a:t>00ft</a:t>
              </a:r>
              <a:endParaRPr sz="1000" b="1" dirty="0"/>
            </a:p>
          </p:txBody>
        </p:sp>
        <p:cxnSp>
          <p:nvCxnSpPr>
            <p:cNvPr id="203" name="Google Shape;203;p22"/>
            <p:cNvCxnSpPr>
              <a:cxnSpLocks/>
              <a:stCxn id="200" idx="2"/>
              <a:endCxn id="75" idx="0"/>
            </p:cNvCxnSpPr>
            <p:nvPr/>
          </p:nvCxnSpPr>
          <p:spPr>
            <a:xfrm rot="5400000">
              <a:off x="11325824" y="1948510"/>
              <a:ext cx="1922446" cy="1957248"/>
            </a:xfrm>
            <a:prstGeom prst="straightConnector1">
              <a:avLst/>
            </a:prstGeom>
            <a:noFill/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4" name="Google Shape;204;p22"/>
          <p:cNvSpPr txBox="1"/>
          <p:nvPr/>
        </p:nvSpPr>
        <p:spPr>
          <a:xfrm>
            <a:off x="3186600" y="10141525"/>
            <a:ext cx="11933400" cy="614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fr" b="1" dirty="0"/>
              <a:t>CDE </a:t>
            </a:r>
            <a:r>
              <a:rPr lang="fr" b="1" dirty="0" smtClean="0"/>
              <a:t>2 (</a:t>
            </a:r>
            <a:r>
              <a:rPr lang="fr" b="1" dirty="0" smtClean="0"/>
              <a:t>FAH </a:t>
            </a:r>
            <a:r>
              <a:rPr lang="fr" b="1" dirty="0" smtClean="0"/>
              <a:t>055˚-125˚ </a:t>
            </a:r>
            <a:r>
              <a:rPr lang="fr" b="1" dirty="0" smtClean="0"/>
              <a:t>or </a:t>
            </a:r>
            <a:r>
              <a:rPr lang="fr" b="1" dirty="0" smtClean="0"/>
              <a:t>260˚-</a:t>
            </a:r>
            <a:r>
              <a:rPr lang="fr" b="1" dirty="0" smtClean="0"/>
              <a:t>350˚), No cluster munition</a:t>
            </a:r>
            <a:endParaRPr b="1" dirty="0"/>
          </a:p>
        </p:txBody>
      </p:sp>
      <p:sp>
        <p:nvSpPr>
          <p:cNvPr id="205" name="Google Shape;205;p22"/>
          <p:cNvSpPr txBox="1"/>
          <p:nvPr/>
        </p:nvSpPr>
        <p:spPr>
          <a:xfrm>
            <a:off x="0" y="10141525"/>
            <a:ext cx="3186600" cy="614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2B7B7540-EEBC-3A7C-4711-68FAA4C46592}"/>
              </a:ext>
            </a:extLst>
          </p:cNvPr>
          <p:cNvSpPr txBox="1"/>
          <p:nvPr/>
        </p:nvSpPr>
        <p:spPr>
          <a:xfrm>
            <a:off x="2429057" y="341867"/>
            <a:ext cx="66865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COLLATERAL DAMAGE ESTIMATION GRAPHIC [X]</a:t>
            </a:r>
          </a:p>
        </p:txBody>
      </p:sp>
      <p:grpSp>
        <p:nvGrpSpPr>
          <p:cNvPr id="51" name="Google Shape;192;p22">
            <a:extLst>
              <a:ext uri="{FF2B5EF4-FFF2-40B4-BE49-F238E27FC236}">
                <a16:creationId xmlns:a16="http://schemas.microsoft.com/office/drawing/2014/main" xmlns="" id="{BC82C9F6-163F-C834-44BC-0A79930AFCC5}"/>
              </a:ext>
            </a:extLst>
          </p:cNvPr>
          <p:cNvGrpSpPr/>
          <p:nvPr/>
        </p:nvGrpSpPr>
        <p:grpSpPr>
          <a:xfrm>
            <a:off x="6992551" y="5669964"/>
            <a:ext cx="1980915" cy="309162"/>
            <a:chOff x="5928038" y="7418972"/>
            <a:chExt cx="1966363" cy="309162"/>
          </a:xfrm>
        </p:grpSpPr>
        <p:sp>
          <p:nvSpPr>
            <p:cNvPr id="52" name="Google Shape;193;p22">
              <a:extLst>
                <a:ext uri="{FF2B5EF4-FFF2-40B4-BE49-F238E27FC236}">
                  <a16:creationId xmlns:a16="http://schemas.microsoft.com/office/drawing/2014/main" xmlns="" id="{25EA7491-34DA-C6DD-FB84-8597EB265521}"/>
                </a:ext>
              </a:extLst>
            </p:cNvPr>
            <p:cNvSpPr txBox="1"/>
            <p:nvPr/>
          </p:nvSpPr>
          <p:spPr>
            <a:xfrm>
              <a:off x="5928038" y="7418972"/>
              <a:ext cx="892500" cy="2841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b="1" dirty="0">
                  <a:solidFill>
                    <a:schemeClr val="dk1"/>
                  </a:solidFill>
                </a:rPr>
                <a:t>DPI </a:t>
              </a:r>
              <a:r>
                <a:rPr lang="fr" b="1" dirty="0" smtClean="0">
                  <a:solidFill>
                    <a:schemeClr val="dk1"/>
                  </a:solidFill>
                </a:rPr>
                <a:t>B</a:t>
              </a:r>
              <a:endParaRPr b="1" dirty="0">
                <a:solidFill>
                  <a:schemeClr val="dk1"/>
                </a:solidFill>
              </a:endParaRPr>
            </a:p>
          </p:txBody>
        </p:sp>
        <p:cxnSp>
          <p:nvCxnSpPr>
            <p:cNvPr id="53" name="Google Shape;194;p22">
              <a:extLst>
                <a:ext uri="{FF2B5EF4-FFF2-40B4-BE49-F238E27FC236}">
                  <a16:creationId xmlns:a16="http://schemas.microsoft.com/office/drawing/2014/main" xmlns="" id="{9FD3A6BC-F382-7118-A79C-DE717B5E9D86}"/>
                </a:ext>
              </a:extLst>
            </p:cNvPr>
            <p:cNvCxnSpPr>
              <a:cxnSpLocks/>
            </p:cNvCxnSpPr>
            <p:nvPr/>
          </p:nvCxnSpPr>
          <p:spPr>
            <a:xfrm>
              <a:off x="6820538" y="7561022"/>
              <a:ext cx="1073863" cy="167112"/>
            </a:xfrm>
            <a:prstGeom prst="straightConnector1">
              <a:avLst/>
            </a:prstGeom>
            <a:noFill/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3" name="Freeform: Shape 142">
            <a:extLst>
              <a:ext uri="{FF2B5EF4-FFF2-40B4-BE49-F238E27FC236}">
                <a16:creationId xmlns:a16="http://schemas.microsoft.com/office/drawing/2014/main" xmlns="" id="{1D6B424F-98B0-FD38-32B3-A81B0E5C1334}"/>
              </a:ext>
            </a:extLst>
          </p:cNvPr>
          <p:cNvSpPr/>
          <p:nvPr/>
        </p:nvSpPr>
        <p:spPr>
          <a:xfrm>
            <a:off x="-6561004" y="492999"/>
            <a:ext cx="5767754" cy="6668086"/>
          </a:xfrm>
          <a:custGeom>
            <a:avLst/>
            <a:gdLst>
              <a:gd name="connsiteX0" fmla="*/ 5430130 w 5767754"/>
              <a:gd name="connsiteY0" fmla="*/ 4346917 h 6668086"/>
              <a:gd name="connsiteX1" fmla="*/ 3024554 w 5767754"/>
              <a:gd name="connsiteY1" fmla="*/ 0 h 6668086"/>
              <a:gd name="connsiteX2" fmla="*/ 0 w 5767754"/>
              <a:gd name="connsiteY2" fmla="*/ 2053883 h 6668086"/>
              <a:gd name="connsiteX3" fmla="*/ 3404382 w 5767754"/>
              <a:gd name="connsiteY3" fmla="*/ 6668086 h 6668086"/>
              <a:gd name="connsiteX4" fmla="*/ 5767754 w 5767754"/>
              <a:gd name="connsiteY4" fmla="*/ 4867421 h 6668086"/>
              <a:gd name="connsiteX5" fmla="*/ 5430130 w 5767754"/>
              <a:gd name="connsiteY5" fmla="*/ 4346917 h 6668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67754" h="6668086">
                <a:moveTo>
                  <a:pt x="5430130" y="4346917"/>
                </a:moveTo>
                <a:lnTo>
                  <a:pt x="3024554" y="0"/>
                </a:lnTo>
                <a:lnTo>
                  <a:pt x="0" y="2053883"/>
                </a:lnTo>
                <a:lnTo>
                  <a:pt x="3404382" y="6668086"/>
                </a:lnTo>
                <a:lnTo>
                  <a:pt x="5767754" y="4867421"/>
                </a:lnTo>
                <a:lnTo>
                  <a:pt x="5430130" y="4346917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45" name="Google Shape;195;p22">
            <a:extLst>
              <a:ext uri="{FF2B5EF4-FFF2-40B4-BE49-F238E27FC236}">
                <a16:creationId xmlns:a16="http://schemas.microsoft.com/office/drawing/2014/main" xmlns="" id="{6F8DB047-465E-ACB7-9703-E4D1ECBA0D1D}"/>
              </a:ext>
            </a:extLst>
          </p:cNvPr>
          <p:cNvGrpSpPr/>
          <p:nvPr/>
        </p:nvGrpSpPr>
        <p:grpSpPr>
          <a:xfrm>
            <a:off x="3382717" y="7593107"/>
            <a:ext cx="3717330" cy="1639743"/>
            <a:chOff x="6834480" y="9525540"/>
            <a:chExt cx="3717330" cy="1639743"/>
          </a:xfrm>
        </p:grpSpPr>
        <p:sp>
          <p:nvSpPr>
            <p:cNvPr id="146" name="Google Shape;196;p22">
              <a:extLst>
                <a:ext uri="{FF2B5EF4-FFF2-40B4-BE49-F238E27FC236}">
                  <a16:creationId xmlns:a16="http://schemas.microsoft.com/office/drawing/2014/main" xmlns="" id="{2A18C188-0735-9819-9DD0-F1DCE9D1DE94}"/>
                </a:ext>
              </a:extLst>
            </p:cNvPr>
            <p:cNvSpPr txBox="1"/>
            <p:nvPr/>
          </p:nvSpPr>
          <p:spPr>
            <a:xfrm>
              <a:off x="6834480" y="10669270"/>
              <a:ext cx="1947941" cy="496013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000" b="1" dirty="0"/>
                <a:t>NCC: </a:t>
              </a:r>
              <a:r>
                <a:rPr lang="en-GB" sz="1000" b="1" dirty="0" smtClean="0"/>
                <a:t>ATC TOWER</a:t>
              </a:r>
              <a:endParaRPr sz="1000" b="1"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000" b="1" dirty="0" smtClean="0"/>
                <a:t>300FT </a:t>
              </a:r>
              <a:r>
                <a:rPr lang="fr" sz="1000" b="1" dirty="0"/>
                <a:t>S</a:t>
              </a:r>
              <a:r>
                <a:rPr lang="fr" sz="1000" b="1" dirty="0" smtClean="0"/>
                <a:t> </a:t>
              </a:r>
              <a:r>
                <a:rPr lang="fr" sz="1000" b="1" dirty="0"/>
                <a:t>FROM DPI </a:t>
              </a:r>
              <a:r>
                <a:rPr lang="fr" sz="1000" b="1" dirty="0" smtClean="0"/>
                <a:t>A</a:t>
              </a:r>
              <a:endParaRPr sz="1000" b="1" dirty="0"/>
            </a:p>
          </p:txBody>
        </p:sp>
        <p:cxnSp>
          <p:nvCxnSpPr>
            <p:cNvPr id="147" name="Google Shape;197;p22">
              <a:extLst>
                <a:ext uri="{FF2B5EF4-FFF2-40B4-BE49-F238E27FC236}">
                  <a16:creationId xmlns:a16="http://schemas.microsoft.com/office/drawing/2014/main" xmlns="" id="{E63FBADE-EA35-A293-2BA8-F5684BCFDE7A}"/>
                </a:ext>
              </a:extLst>
            </p:cNvPr>
            <p:cNvCxnSpPr>
              <a:cxnSpLocks/>
              <a:stCxn id="146" idx="0"/>
            </p:cNvCxnSpPr>
            <p:nvPr/>
          </p:nvCxnSpPr>
          <p:spPr>
            <a:xfrm rot="5400000" flipH="1" flipV="1">
              <a:off x="8608265" y="8725726"/>
              <a:ext cx="1143731" cy="2743359"/>
            </a:xfrm>
            <a:prstGeom prst="straightConnector1">
              <a:avLst/>
            </a:prstGeom>
            <a:noFill/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xmlns="" id="{5DBCF6CA-BADE-1493-06EA-EFE52F0864F2}"/>
              </a:ext>
            </a:extLst>
          </p:cNvPr>
          <p:cNvSpPr/>
          <p:nvPr/>
        </p:nvSpPr>
        <p:spPr>
          <a:xfrm rot="1084086">
            <a:off x="7054014" y="7350636"/>
            <a:ext cx="522306" cy="653341"/>
          </a:xfrm>
          <a:custGeom>
            <a:avLst/>
            <a:gdLst>
              <a:gd name="connsiteX0" fmla="*/ 168812 w 4445390"/>
              <a:gd name="connsiteY0" fmla="*/ 4740812 h 4740812"/>
              <a:gd name="connsiteX1" fmla="*/ 168812 w 4445390"/>
              <a:gd name="connsiteY1" fmla="*/ 4740812 h 4740812"/>
              <a:gd name="connsiteX2" fmla="*/ 0 w 4445390"/>
              <a:gd name="connsiteY2" fmla="*/ 14068 h 4740812"/>
              <a:gd name="connsiteX3" fmla="*/ 4318781 w 4445390"/>
              <a:gd name="connsiteY3" fmla="*/ 0 h 4740812"/>
              <a:gd name="connsiteX4" fmla="*/ 4445390 w 4445390"/>
              <a:gd name="connsiteY4" fmla="*/ 4543864 h 4740812"/>
              <a:gd name="connsiteX5" fmla="*/ 168812 w 4445390"/>
              <a:gd name="connsiteY5" fmla="*/ 4740812 h 4740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45390" h="4740812">
                <a:moveTo>
                  <a:pt x="168812" y="4740812"/>
                </a:moveTo>
                <a:lnTo>
                  <a:pt x="168812" y="4740812"/>
                </a:lnTo>
                <a:lnTo>
                  <a:pt x="0" y="14068"/>
                </a:lnTo>
                <a:lnTo>
                  <a:pt x="4318781" y="0"/>
                </a:lnTo>
                <a:lnTo>
                  <a:pt x="4445390" y="4543864"/>
                </a:lnTo>
                <a:lnTo>
                  <a:pt x="168812" y="4740812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B51A92D9-B342-3028-BFA0-E791EFBC411F}"/>
              </a:ext>
            </a:extLst>
          </p:cNvPr>
          <p:cNvGrpSpPr/>
          <p:nvPr/>
        </p:nvGrpSpPr>
        <p:grpSpPr>
          <a:xfrm rot="16200000">
            <a:off x="14195180" y="2629410"/>
            <a:ext cx="559046" cy="692832"/>
            <a:chOff x="15526400" y="3343535"/>
            <a:chExt cx="1172983" cy="132452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xmlns="" id="{0413BAE0-0D16-898C-F48C-8FFFF0C75B5A}"/>
                </a:ext>
              </a:extLst>
            </p:cNvPr>
            <p:cNvSpPr/>
            <p:nvPr/>
          </p:nvSpPr>
          <p:spPr>
            <a:xfrm>
              <a:off x="15526400" y="3343535"/>
              <a:ext cx="1172983" cy="1324523"/>
            </a:xfrm>
            <a:custGeom>
              <a:avLst/>
              <a:gdLst>
                <a:gd name="connsiteX0" fmla="*/ 351692 w 731520"/>
                <a:gd name="connsiteY0" fmla="*/ 0 h 858129"/>
                <a:gd name="connsiteX1" fmla="*/ 0 w 731520"/>
                <a:gd name="connsiteY1" fmla="*/ 858129 h 858129"/>
                <a:gd name="connsiteX2" fmla="*/ 337624 w 731520"/>
                <a:gd name="connsiteY2" fmla="*/ 647114 h 858129"/>
                <a:gd name="connsiteX3" fmla="*/ 731520 w 731520"/>
                <a:gd name="connsiteY3" fmla="*/ 844061 h 858129"/>
                <a:gd name="connsiteX4" fmla="*/ 351692 w 731520"/>
                <a:gd name="connsiteY4" fmla="*/ 0 h 858129"/>
                <a:gd name="connsiteX0" fmla="*/ 394761 w 731520"/>
                <a:gd name="connsiteY0" fmla="*/ 0 h 992212"/>
                <a:gd name="connsiteX1" fmla="*/ 0 w 731520"/>
                <a:gd name="connsiteY1" fmla="*/ 992212 h 992212"/>
                <a:gd name="connsiteX2" fmla="*/ 337624 w 731520"/>
                <a:gd name="connsiteY2" fmla="*/ 781197 h 992212"/>
                <a:gd name="connsiteX3" fmla="*/ 731520 w 731520"/>
                <a:gd name="connsiteY3" fmla="*/ 978144 h 992212"/>
                <a:gd name="connsiteX4" fmla="*/ 394761 w 731520"/>
                <a:gd name="connsiteY4" fmla="*/ 0 h 992212"/>
                <a:gd name="connsiteX0" fmla="*/ 383994 w 731520"/>
                <a:gd name="connsiteY0" fmla="*/ 0 h 992212"/>
                <a:gd name="connsiteX1" fmla="*/ 0 w 731520"/>
                <a:gd name="connsiteY1" fmla="*/ 992212 h 992212"/>
                <a:gd name="connsiteX2" fmla="*/ 337624 w 731520"/>
                <a:gd name="connsiteY2" fmla="*/ 781197 h 992212"/>
                <a:gd name="connsiteX3" fmla="*/ 731520 w 731520"/>
                <a:gd name="connsiteY3" fmla="*/ 978144 h 992212"/>
                <a:gd name="connsiteX4" fmla="*/ 383994 w 731520"/>
                <a:gd name="connsiteY4" fmla="*/ 0 h 992212"/>
                <a:gd name="connsiteX0" fmla="*/ 383994 w 957635"/>
                <a:gd name="connsiteY0" fmla="*/ 0 h 1313351"/>
                <a:gd name="connsiteX1" fmla="*/ 0 w 957635"/>
                <a:gd name="connsiteY1" fmla="*/ 992212 h 1313351"/>
                <a:gd name="connsiteX2" fmla="*/ 337624 w 957635"/>
                <a:gd name="connsiteY2" fmla="*/ 781197 h 1313351"/>
                <a:gd name="connsiteX3" fmla="*/ 957635 w 957635"/>
                <a:gd name="connsiteY3" fmla="*/ 1313351 h 1313351"/>
                <a:gd name="connsiteX4" fmla="*/ 383994 w 957635"/>
                <a:gd name="connsiteY4" fmla="*/ 0 h 1313351"/>
                <a:gd name="connsiteX0" fmla="*/ 599342 w 1172983"/>
                <a:gd name="connsiteY0" fmla="*/ 0 h 1313351"/>
                <a:gd name="connsiteX1" fmla="*/ 0 w 1172983"/>
                <a:gd name="connsiteY1" fmla="*/ 1305071 h 1313351"/>
                <a:gd name="connsiteX2" fmla="*/ 552972 w 1172983"/>
                <a:gd name="connsiteY2" fmla="*/ 781197 h 1313351"/>
                <a:gd name="connsiteX3" fmla="*/ 1172983 w 1172983"/>
                <a:gd name="connsiteY3" fmla="*/ 1313351 h 1313351"/>
                <a:gd name="connsiteX4" fmla="*/ 599342 w 1172983"/>
                <a:gd name="connsiteY4" fmla="*/ 0 h 1313351"/>
                <a:gd name="connsiteX0" fmla="*/ 599342 w 1172983"/>
                <a:gd name="connsiteY0" fmla="*/ 0 h 1313351"/>
                <a:gd name="connsiteX1" fmla="*/ 0 w 1172983"/>
                <a:gd name="connsiteY1" fmla="*/ 1305071 h 1313351"/>
                <a:gd name="connsiteX2" fmla="*/ 574507 w 1172983"/>
                <a:gd name="connsiteY2" fmla="*/ 982322 h 1313351"/>
                <a:gd name="connsiteX3" fmla="*/ 1172983 w 1172983"/>
                <a:gd name="connsiteY3" fmla="*/ 1313351 h 1313351"/>
                <a:gd name="connsiteX4" fmla="*/ 599342 w 1172983"/>
                <a:gd name="connsiteY4" fmla="*/ 0 h 1313351"/>
                <a:gd name="connsiteX0" fmla="*/ 599342 w 1172983"/>
                <a:gd name="connsiteY0" fmla="*/ 0 h 1302177"/>
                <a:gd name="connsiteX1" fmla="*/ 0 w 1172983"/>
                <a:gd name="connsiteY1" fmla="*/ 1293897 h 1302177"/>
                <a:gd name="connsiteX2" fmla="*/ 574507 w 1172983"/>
                <a:gd name="connsiteY2" fmla="*/ 971148 h 1302177"/>
                <a:gd name="connsiteX3" fmla="*/ 1172983 w 1172983"/>
                <a:gd name="connsiteY3" fmla="*/ 1302177 h 1302177"/>
                <a:gd name="connsiteX4" fmla="*/ 599342 w 1172983"/>
                <a:gd name="connsiteY4" fmla="*/ 0 h 1302177"/>
                <a:gd name="connsiteX0" fmla="*/ 599342 w 1172983"/>
                <a:gd name="connsiteY0" fmla="*/ 0 h 1302177"/>
                <a:gd name="connsiteX1" fmla="*/ 0 w 1172983"/>
                <a:gd name="connsiteY1" fmla="*/ 1293897 h 1302177"/>
                <a:gd name="connsiteX2" fmla="*/ 574507 w 1172983"/>
                <a:gd name="connsiteY2" fmla="*/ 971148 h 1302177"/>
                <a:gd name="connsiteX3" fmla="*/ 1172983 w 1172983"/>
                <a:gd name="connsiteY3" fmla="*/ 1302177 h 1302177"/>
                <a:gd name="connsiteX4" fmla="*/ 599342 w 1172983"/>
                <a:gd name="connsiteY4" fmla="*/ 0 h 1302177"/>
                <a:gd name="connsiteX0" fmla="*/ 567040 w 1172983"/>
                <a:gd name="connsiteY0" fmla="*/ 0 h 1302177"/>
                <a:gd name="connsiteX1" fmla="*/ 0 w 1172983"/>
                <a:gd name="connsiteY1" fmla="*/ 1293897 h 1302177"/>
                <a:gd name="connsiteX2" fmla="*/ 574507 w 1172983"/>
                <a:gd name="connsiteY2" fmla="*/ 971148 h 1302177"/>
                <a:gd name="connsiteX3" fmla="*/ 1172983 w 1172983"/>
                <a:gd name="connsiteY3" fmla="*/ 1302177 h 1302177"/>
                <a:gd name="connsiteX4" fmla="*/ 567040 w 1172983"/>
                <a:gd name="connsiteY4" fmla="*/ 0 h 1302177"/>
                <a:gd name="connsiteX0" fmla="*/ 567040 w 1172983"/>
                <a:gd name="connsiteY0" fmla="*/ 0 h 1291003"/>
                <a:gd name="connsiteX1" fmla="*/ 0 w 1172983"/>
                <a:gd name="connsiteY1" fmla="*/ 1282723 h 1291003"/>
                <a:gd name="connsiteX2" fmla="*/ 574507 w 1172983"/>
                <a:gd name="connsiteY2" fmla="*/ 959974 h 1291003"/>
                <a:gd name="connsiteX3" fmla="*/ 1172983 w 1172983"/>
                <a:gd name="connsiteY3" fmla="*/ 1291003 h 1291003"/>
                <a:gd name="connsiteX4" fmla="*/ 567040 w 1172983"/>
                <a:gd name="connsiteY4" fmla="*/ 0 h 1291003"/>
                <a:gd name="connsiteX0" fmla="*/ 577807 w 1172983"/>
                <a:gd name="connsiteY0" fmla="*/ 0 h 1190441"/>
                <a:gd name="connsiteX1" fmla="*/ 0 w 1172983"/>
                <a:gd name="connsiteY1" fmla="*/ 1182161 h 1190441"/>
                <a:gd name="connsiteX2" fmla="*/ 574507 w 1172983"/>
                <a:gd name="connsiteY2" fmla="*/ 859412 h 1190441"/>
                <a:gd name="connsiteX3" fmla="*/ 1172983 w 1172983"/>
                <a:gd name="connsiteY3" fmla="*/ 1190441 h 1190441"/>
                <a:gd name="connsiteX4" fmla="*/ 577807 w 1172983"/>
                <a:gd name="connsiteY4" fmla="*/ 0 h 1190441"/>
                <a:gd name="connsiteX0" fmla="*/ 577807 w 1172983"/>
                <a:gd name="connsiteY0" fmla="*/ 0 h 933449"/>
                <a:gd name="connsiteX1" fmla="*/ 0 w 1172983"/>
                <a:gd name="connsiteY1" fmla="*/ 925169 h 933449"/>
                <a:gd name="connsiteX2" fmla="*/ 574507 w 1172983"/>
                <a:gd name="connsiteY2" fmla="*/ 602420 h 933449"/>
                <a:gd name="connsiteX3" fmla="*/ 1172983 w 1172983"/>
                <a:gd name="connsiteY3" fmla="*/ 933449 h 933449"/>
                <a:gd name="connsiteX4" fmla="*/ 577807 w 1172983"/>
                <a:gd name="connsiteY4" fmla="*/ 0 h 933449"/>
                <a:gd name="connsiteX0" fmla="*/ 599342 w 1172983"/>
                <a:gd name="connsiteY0" fmla="*/ 0 h 1324524"/>
                <a:gd name="connsiteX1" fmla="*/ 0 w 1172983"/>
                <a:gd name="connsiteY1" fmla="*/ 1316244 h 1324524"/>
                <a:gd name="connsiteX2" fmla="*/ 574507 w 1172983"/>
                <a:gd name="connsiteY2" fmla="*/ 993495 h 1324524"/>
                <a:gd name="connsiteX3" fmla="*/ 1172983 w 1172983"/>
                <a:gd name="connsiteY3" fmla="*/ 1324524 h 1324524"/>
                <a:gd name="connsiteX4" fmla="*/ 599342 w 1172983"/>
                <a:gd name="connsiteY4" fmla="*/ 0 h 1324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2983" h="1324524">
                  <a:moveTo>
                    <a:pt x="599342" y="0"/>
                  </a:moveTo>
                  <a:lnTo>
                    <a:pt x="0" y="1316244"/>
                  </a:lnTo>
                  <a:lnTo>
                    <a:pt x="574507" y="993495"/>
                  </a:lnTo>
                  <a:lnTo>
                    <a:pt x="1172983" y="1324524"/>
                  </a:lnTo>
                  <a:lnTo>
                    <a:pt x="599342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Google Shape;66;p14">
              <a:extLst>
                <a:ext uri="{FF2B5EF4-FFF2-40B4-BE49-F238E27FC236}">
                  <a16:creationId xmlns:a16="http://schemas.microsoft.com/office/drawing/2014/main" xmlns="" id="{8DBFD879-B81C-1775-861B-3B9C1E9E58CF}"/>
                </a:ext>
              </a:extLst>
            </p:cNvPr>
            <p:cNvSpPr txBox="1"/>
            <p:nvPr/>
          </p:nvSpPr>
          <p:spPr>
            <a:xfrm>
              <a:off x="15716513" y="3587815"/>
              <a:ext cx="502201" cy="6498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2400" b="1" dirty="0">
                  <a:solidFill>
                    <a:sysClr val="windowText" lastClr="000000"/>
                  </a:solidFill>
                </a:rPr>
                <a:t>N</a:t>
              </a:r>
              <a:endParaRPr sz="2400" b="1" dirty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45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131311" y="19456"/>
            <a:ext cx="2220868" cy="189742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46" name="Rektangel 11">
            <a:extLst>
              <a:ext uri="{FF2B5EF4-FFF2-40B4-BE49-F238E27FC236}">
                <a16:creationId xmlns:a16="http://schemas.microsoft.com/office/drawing/2014/main" xmlns="" id="{FF272179-214C-058E-FD42-C186C1307BBA}"/>
              </a:ext>
            </a:extLst>
          </p:cNvPr>
          <p:cNvSpPr/>
          <p:nvPr/>
        </p:nvSpPr>
        <p:spPr>
          <a:xfrm flipV="1">
            <a:off x="9976566" y="469404"/>
            <a:ext cx="139449" cy="14968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uppe 66"/>
          <p:cNvGrpSpPr/>
          <p:nvPr/>
        </p:nvGrpSpPr>
        <p:grpSpPr>
          <a:xfrm>
            <a:off x="6858687" y="5441577"/>
            <a:ext cx="1989477" cy="1963271"/>
            <a:chOff x="15321368" y="-2003314"/>
            <a:chExt cx="7190284" cy="6998232"/>
          </a:xfrm>
        </p:grpSpPr>
        <p:sp>
          <p:nvSpPr>
            <p:cNvPr id="138" name="Oval 137">
              <a:extLst>
                <a:ext uri="{FF2B5EF4-FFF2-40B4-BE49-F238E27FC236}">
                  <a16:creationId xmlns:a16="http://schemas.microsoft.com/office/drawing/2014/main" xmlns="" id="{D60E1540-9686-0A11-113F-7DB0806AED13}"/>
                </a:ext>
              </a:extLst>
            </p:cNvPr>
            <p:cNvSpPr/>
            <p:nvPr/>
          </p:nvSpPr>
          <p:spPr>
            <a:xfrm>
              <a:off x="15321368" y="-2003314"/>
              <a:ext cx="7190284" cy="6998232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Ellipse 65"/>
            <p:cNvSpPr/>
            <p:nvPr/>
          </p:nvSpPr>
          <p:spPr>
            <a:xfrm>
              <a:off x="18880425" y="1467270"/>
              <a:ext cx="56474" cy="550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4" name="Gruppe 73"/>
          <p:cNvGrpSpPr/>
          <p:nvPr/>
        </p:nvGrpSpPr>
        <p:grpSpPr>
          <a:xfrm>
            <a:off x="7997205" y="4993341"/>
            <a:ext cx="1989477" cy="1963271"/>
            <a:chOff x="15321368" y="-2003314"/>
            <a:chExt cx="7190284" cy="6998232"/>
          </a:xfrm>
        </p:grpSpPr>
        <p:sp>
          <p:nvSpPr>
            <p:cNvPr id="75" name="Oval 137">
              <a:extLst>
                <a:ext uri="{FF2B5EF4-FFF2-40B4-BE49-F238E27FC236}">
                  <a16:creationId xmlns:a16="http://schemas.microsoft.com/office/drawing/2014/main" xmlns="" id="{D60E1540-9686-0A11-113F-7DB0806AED13}"/>
                </a:ext>
              </a:extLst>
            </p:cNvPr>
            <p:cNvSpPr/>
            <p:nvPr/>
          </p:nvSpPr>
          <p:spPr>
            <a:xfrm>
              <a:off x="15321368" y="-2003314"/>
              <a:ext cx="7190284" cy="6998232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Ellipse 75"/>
            <p:cNvSpPr/>
            <p:nvPr/>
          </p:nvSpPr>
          <p:spPr>
            <a:xfrm>
              <a:off x="18880425" y="1467270"/>
              <a:ext cx="56474" cy="550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2874B8D2-490B-EC68-91F3-93308D869B99}"/>
              </a:ext>
            </a:extLst>
          </p:cNvPr>
          <p:cNvGrpSpPr/>
          <p:nvPr/>
        </p:nvGrpSpPr>
        <p:grpSpPr>
          <a:xfrm>
            <a:off x="0" y="0"/>
            <a:ext cx="15119350" cy="1980670"/>
            <a:chOff x="0" y="0"/>
            <a:chExt cx="15119350" cy="198067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xmlns="" id="{17B425AB-18B2-BCD4-F94E-282D9F430563}"/>
                </a:ext>
              </a:extLst>
            </p:cNvPr>
            <p:cNvSpPr/>
            <p:nvPr/>
          </p:nvSpPr>
          <p:spPr>
            <a:xfrm>
              <a:off x="0" y="1616"/>
              <a:ext cx="15119350" cy="19199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BE: SRNTGT101  CATCODE: 54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MIDB GEO: N 69 03.636 E 033 26.451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ICOD: 05JAN2024 DOI:05JAN2024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93743685-42C0-B0DB-66BD-A7AB33BFFB07}"/>
                </a:ext>
              </a:extLst>
            </p:cNvPr>
            <p:cNvSpPr txBox="1"/>
            <p:nvPr/>
          </p:nvSpPr>
          <p:spPr>
            <a:xfrm>
              <a:off x="9114792" y="556201"/>
              <a:ext cx="223253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MAP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OVERVIEW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xmlns="" id="{EAE956C0-B9B6-B332-AFE8-53490D9216BB}"/>
                </a:ext>
              </a:extLst>
            </p:cNvPr>
            <p:cNvGrpSpPr/>
            <p:nvPr/>
          </p:nvGrpSpPr>
          <p:grpSpPr>
            <a:xfrm>
              <a:off x="1" y="0"/>
              <a:ext cx="15119349" cy="1921524"/>
              <a:chOff x="1" y="-1616"/>
              <a:chExt cx="15119349" cy="1921524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xmlns="" id="{7B8AEA59-7618-8C1D-FFEE-585B0AFD0640}"/>
                  </a:ext>
                </a:extLst>
              </p:cNvPr>
              <p:cNvSpPr/>
              <p:nvPr/>
            </p:nvSpPr>
            <p:spPr>
              <a:xfrm>
                <a:off x="2447778" y="0"/>
                <a:ext cx="6668087" cy="78779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xmlns="" id="{3922000C-8743-184E-DA71-E348BBC04DB0}"/>
                  </a:ext>
                </a:extLst>
              </p:cNvPr>
              <p:cNvSpPr/>
              <p:nvPr/>
            </p:nvSpPr>
            <p:spPr>
              <a:xfrm>
                <a:off x="2447567" y="787791"/>
                <a:ext cx="6668087" cy="113211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xmlns="" id="{EF919EA7-1EDA-EFCF-ADFC-31274E357A0F}"/>
                  </a:ext>
                </a:extLst>
              </p:cNvPr>
              <p:cNvSpPr/>
              <p:nvPr/>
            </p:nvSpPr>
            <p:spPr>
              <a:xfrm>
                <a:off x="9115654" y="0"/>
                <a:ext cx="2251041" cy="191990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xmlns="" id="{155C59A1-4C22-3939-B43F-6D7ECF689CAC}"/>
                  </a:ext>
                </a:extLst>
              </p:cNvPr>
              <p:cNvSpPr/>
              <p:nvPr/>
            </p:nvSpPr>
            <p:spPr>
              <a:xfrm>
                <a:off x="11366695" y="-1616"/>
                <a:ext cx="3752655" cy="78779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xmlns="" id="{24340D93-2C7C-D05C-13F0-C95C7A3E0085}"/>
                  </a:ext>
                </a:extLst>
              </p:cNvPr>
              <p:cNvSpPr/>
              <p:nvPr/>
            </p:nvSpPr>
            <p:spPr>
              <a:xfrm>
                <a:off x="11366694" y="786175"/>
                <a:ext cx="3752655" cy="113373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xmlns="" id="{C0ABC6F1-4F8E-0166-FBD0-1560CF8F6DC3}"/>
                  </a:ext>
                </a:extLst>
              </p:cNvPr>
              <p:cNvSpPr/>
              <p:nvPr/>
            </p:nvSpPr>
            <p:spPr>
              <a:xfrm>
                <a:off x="1" y="0"/>
                <a:ext cx="2446916" cy="191990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A81CD172-8ED1-490B-0217-EF62C95D2A6D}"/>
                </a:ext>
              </a:extLst>
            </p:cNvPr>
            <p:cNvSpPr txBox="1"/>
            <p:nvPr/>
          </p:nvSpPr>
          <p:spPr>
            <a:xfrm>
              <a:off x="2446917" y="21481"/>
              <a:ext cx="665043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1" dirty="0" smtClean="0"/>
                <a:t>TROMSØ Airfield, REDLAND</a:t>
              </a:r>
              <a:endParaRPr lang="en-GB" sz="2000" b="1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xmlns="" id="{DB84BF92-E9A8-090E-D02F-8325EF489EE6}"/>
                </a:ext>
              </a:extLst>
            </p:cNvPr>
            <p:cNvSpPr txBox="1"/>
            <p:nvPr/>
          </p:nvSpPr>
          <p:spPr>
            <a:xfrm>
              <a:off x="2429057" y="945322"/>
              <a:ext cx="3621504" cy="78483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lvl="0"/>
              <a:r>
                <a:rPr lang="en-GB" sz="1500" b="1" dirty="0" smtClean="0"/>
                <a:t>BE: TRMATGT004  CATCODE: 3</a:t>
              </a:r>
            </a:p>
            <a:p>
              <a:pPr lvl="0"/>
              <a:r>
                <a:rPr lang="en-GB" sz="1500" b="1" dirty="0" smtClean="0"/>
                <a:t>MIDB GEO: </a:t>
              </a:r>
              <a:r>
                <a:rPr lang="pt-BR" sz="1500" b="1" dirty="0" smtClean="0"/>
                <a:t>N69˚40.800 E018˚55.800</a:t>
              </a:r>
              <a:endParaRPr lang="en-GB" sz="1500" b="1" dirty="0" smtClean="0"/>
            </a:p>
            <a:p>
              <a:pPr lvl="0"/>
              <a:r>
                <a:rPr lang="en-GB" sz="1500" b="1" dirty="0" smtClean="0"/>
                <a:t>ICOD: 2011-JUL-06 DOI:2011-JUL-06</a:t>
              </a:r>
              <a:endParaRPr lang="en-GB" sz="1500" b="1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EC08103E-6577-A0FA-4BA7-61D7DE8C429D}"/>
                </a:ext>
              </a:extLst>
            </p:cNvPr>
            <p:cNvSpPr txBox="1"/>
            <p:nvPr/>
          </p:nvSpPr>
          <p:spPr>
            <a:xfrm>
              <a:off x="11364760" y="79905"/>
              <a:ext cx="3752655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/>
              <a:r>
                <a:rPr lang="en-GB" sz="2000" b="1" dirty="0" smtClean="0"/>
                <a:t>TRMA CLASSIFIED</a:t>
              </a:r>
              <a:br>
                <a:rPr lang="en-GB" sz="2000" b="1" dirty="0" smtClean="0"/>
              </a:br>
              <a:r>
                <a:rPr lang="en-GB" sz="2000" b="1" dirty="0" smtClean="0"/>
                <a:t>REL TO 132nd</a:t>
              </a:r>
              <a:endParaRPr lang="en-GB" sz="2000" b="1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FBF6F713-6995-F7BC-0860-C778D0EC9208}"/>
                </a:ext>
              </a:extLst>
            </p:cNvPr>
            <p:cNvSpPr txBox="1"/>
            <p:nvPr/>
          </p:nvSpPr>
          <p:spPr>
            <a:xfrm>
              <a:off x="11347323" y="1112228"/>
              <a:ext cx="37700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DECL ON: 2061-JUL-06</a:t>
              </a:r>
            </a:p>
          </p:txBody>
        </p:sp>
        <p:pic>
          <p:nvPicPr>
            <p:cNvPr id="47" name="Picture 46" descr="D:\GIT PROJECTS\OPAT-background\Virtual Intelligence Service only logo.PNG">
              <a:extLst>
                <a:ext uri="{FF2B5EF4-FFF2-40B4-BE49-F238E27FC236}">
                  <a16:creationId xmlns:a16="http://schemas.microsoft.com/office/drawing/2014/main" xmlns="" id="{1C554BD7-7CC2-12D1-0183-6C8B7512EC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8686" y="21695"/>
              <a:ext cx="2225675" cy="1958975"/>
            </a:xfrm>
            <a:prstGeom prst="rect">
              <a:avLst/>
            </a:prstGeom>
            <a:noFill/>
          </p:spPr>
        </p:pic>
      </p:grpSp>
      <p:graphicFrame>
        <p:nvGraphicFramePr>
          <p:cNvPr id="215" name="Google Shape;215;p23"/>
          <p:cNvGraphicFramePr/>
          <p:nvPr>
            <p:extLst>
              <p:ext uri="{D42A27DB-BD31-4B8C-83A1-F6EECF244321}">
                <p14:modId xmlns:p14="http://schemas.microsoft.com/office/powerpoint/2010/main" xmlns="" val="409069735"/>
              </p:ext>
            </p:extLst>
          </p:nvPr>
        </p:nvGraphicFramePr>
        <p:xfrm>
          <a:off x="25" y="2625285"/>
          <a:ext cx="15119925" cy="6339450"/>
        </p:xfrm>
        <a:graphic>
          <a:graphicData uri="http://schemas.openxmlformats.org/drawingml/2006/table">
            <a:tbl>
              <a:tblPr>
                <a:noFill/>
                <a:tableStyleId>{85EE82D6-AF98-40BB-A63E-5EA55E4C3481}</a:tableStyleId>
              </a:tblPr>
              <a:tblGrid>
                <a:gridCol w="10965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648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286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70407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70407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52172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487650">
                <a:tc gridSpan="6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2000" b="1" dirty="0">
                          <a:solidFill>
                            <a:schemeClr val="dk1"/>
                          </a:solidFill>
                        </a:rPr>
                        <a:t>COLLATERAL DAMAGES WITHIN A 500M RADIUS</a:t>
                      </a:r>
                      <a:endParaRPr sz="20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8765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 b="1">
                          <a:solidFill>
                            <a:schemeClr val="lt1"/>
                          </a:solidFill>
                        </a:rPr>
                        <a:t>DESCRIPTION</a:t>
                      </a: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 b="1">
                          <a:solidFill>
                            <a:schemeClr val="lt1"/>
                          </a:solidFill>
                        </a:rPr>
                        <a:t>CATCODE</a:t>
                      </a: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 b="1">
                          <a:solidFill>
                            <a:schemeClr val="lt1"/>
                          </a:solidFill>
                        </a:rPr>
                        <a:t>MIDB GEOS</a:t>
                      </a: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 b="1">
                          <a:solidFill>
                            <a:schemeClr val="lt1"/>
                          </a:solidFill>
                        </a:rPr>
                        <a:t>LOCATION</a:t>
                      </a: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 b="1">
                          <a:solidFill>
                            <a:schemeClr val="lt1"/>
                          </a:solidFill>
                        </a:rPr>
                        <a:t>REMARKS</a:t>
                      </a: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8765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smtClean="0">
                          <a:solidFill>
                            <a:schemeClr val="dk1"/>
                          </a:solidFill>
                        </a:rPr>
                        <a:t>ATC TOWER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smtClean="0">
                          <a:solidFill>
                            <a:schemeClr val="dk1"/>
                          </a:solidFill>
                        </a:rPr>
                        <a:t>14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smtClean="0"/>
                        <a:t>300ft S </a:t>
                      </a:r>
                      <a:r>
                        <a:rPr lang="en-GB" dirty="0"/>
                        <a:t>of DPI A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smtClean="0"/>
                        <a:t>Dual-use</a:t>
                      </a:r>
                      <a:r>
                        <a:rPr lang="en-GB" baseline="0" dirty="0" smtClean="0"/>
                        <a:t> ATC Tower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8765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smtClean="0">
                          <a:solidFill>
                            <a:schemeClr val="dk1"/>
                          </a:solidFill>
                        </a:rPr>
                        <a:t>Civilian</a:t>
                      </a:r>
                      <a:r>
                        <a:rPr lang="en-GB" baseline="0" dirty="0" smtClean="0">
                          <a:solidFill>
                            <a:schemeClr val="dk1"/>
                          </a:solidFill>
                        </a:rPr>
                        <a:t> Storage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solidFill>
                            <a:schemeClr val="dk1"/>
                          </a:solidFill>
                        </a:rPr>
                        <a:t>14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smtClean="0"/>
                        <a:t>400ft S </a:t>
                      </a:r>
                      <a:r>
                        <a:rPr lang="en-GB" dirty="0"/>
                        <a:t>of DPI </a:t>
                      </a:r>
                      <a:r>
                        <a:rPr lang="en-GB" dirty="0" smtClean="0"/>
                        <a:t>A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smtClean="0"/>
                        <a:t>Civilian airline</a:t>
                      </a:r>
                      <a:r>
                        <a:rPr lang="en-GB" baseline="0" dirty="0" smtClean="0"/>
                        <a:t> storage</a:t>
                      </a:r>
                      <a:endParaRPr lang="en-GB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8765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8765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87650">
                <a:tc gridSpan="6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87650">
                <a:tc gridSpan="6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2000" b="1">
                          <a:solidFill>
                            <a:schemeClr val="dk1"/>
                          </a:solidFill>
                        </a:rPr>
                        <a:t>NO STRIKE ENTITIES WITHIN A 500M RADIUS</a:t>
                      </a:r>
                      <a:endParaRPr sz="12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87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 b="1">
                          <a:solidFill>
                            <a:schemeClr val="lt1"/>
                          </a:solidFill>
                        </a:rPr>
                        <a:t>NSE ID</a:t>
                      </a: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 b="1">
                          <a:solidFill>
                            <a:schemeClr val="lt1"/>
                          </a:solidFill>
                        </a:rPr>
                        <a:t>DESCRIPTION</a:t>
                      </a: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 b="1">
                          <a:solidFill>
                            <a:schemeClr val="lt1"/>
                          </a:solidFill>
                        </a:rPr>
                        <a:t>CATCODE</a:t>
                      </a: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 b="1">
                          <a:solidFill>
                            <a:schemeClr val="lt1"/>
                          </a:solidFill>
                        </a:rPr>
                        <a:t>MIDB GEOS</a:t>
                      </a: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 b="1">
                          <a:solidFill>
                            <a:schemeClr val="lt1"/>
                          </a:solidFill>
                        </a:rPr>
                        <a:t>LOCATION</a:t>
                      </a: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 b="1">
                          <a:solidFill>
                            <a:schemeClr val="lt1"/>
                          </a:solidFill>
                        </a:rPr>
                        <a:t>REMARKS</a:t>
                      </a: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87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87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487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487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9EF4208-1856-6E50-5291-A68B263FE83C}"/>
              </a:ext>
            </a:extLst>
          </p:cNvPr>
          <p:cNvSpPr txBox="1"/>
          <p:nvPr/>
        </p:nvSpPr>
        <p:spPr>
          <a:xfrm>
            <a:off x="2429057" y="369918"/>
            <a:ext cx="66663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COLLATERAL DAMAGES ESTIMATION 1/1</a:t>
            </a:r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131311" y="19456"/>
            <a:ext cx="2220868" cy="189742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23" name="Rektangel 11">
            <a:extLst>
              <a:ext uri="{FF2B5EF4-FFF2-40B4-BE49-F238E27FC236}">
                <a16:creationId xmlns:a16="http://schemas.microsoft.com/office/drawing/2014/main" xmlns="" id="{FF272179-214C-058E-FD42-C186C1307BBA}"/>
              </a:ext>
            </a:extLst>
          </p:cNvPr>
          <p:cNvSpPr/>
          <p:nvPr/>
        </p:nvSpPr>
        <p:spPr>
          <a:xfrm flipV="1">
            <a:off x="9976566" y="469404"/>
            <a:ext cx="139449" cy="14968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xmlns="" id="{80BBF8A1-2536-A881-2A84-8EB06CDAC713}"/>
              </a:ext>
            </a:extLst>
          </p:cNvPr>
          <p:cNvGrpSpPr/>
          <p:nvPr/>
        </p:nvGrpSpPr>
        <p:grpSpPr>
          <a:xfrm>
            <a:off x="0" y="0"/>
            <a:ext cx="15119350" cy="1980670"/>
            <a:chOff x="0" y="0"/>
            <a:chExt cx="15119350" cy="198067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xmlns="" id="{5CC7EF2B-D38D-BFE4-6AD2-FB32E9524379}"/>
                </a:ext>
              </a:extLst>
            </p:cNvPr>
            <p:cNvSpPr/>
            <p:nvPr/>
          </p:nvSpPr>
          <p:spPr>
            <a:xfrm>
              <a:off x="0" y="1616"/>
              <a:ext cx="15119350" cy="19199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BE: SRNTGT101  CATCODE: 54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MIDB GEO: N 69 03.636 E 033 26.451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ICOD: 05JAN2024 DOI:05JAN2024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B981A276-C995-0FFE-0517-21F5BC856DD6}"/>
                </a:ext>
              </a:extLst>
            </p:cNvPr>
            <p:cNvSpPr txBox="1"/>
            <p:nvPr/>
          </p:nvSpPr>
          <p:spPr>
            <a:xfrm>
              <a:off x="9114792" y="556201"/>
              <a:ext cx="223253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MAP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OVERVIEW</a:t>
              </a: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xmlns="" id="{2AE2BCBD-5B5F-E6CB-54E5-F595CA8287DF}"/>
                </a:ext>
              </a:extLst>
            </p:cNvPr>
            <p:cNvGrpSpPr/>
            <p:nvPr/>
          </p:nvGrpSpPr>
          <p:grpSpPr>
            <a:xfrm>
              <a:off x="1" y="0"/>
              <a:ext cx="15119349" cy="1921524"/>
              <a:chOff x="1" y="-1616"/>
              <a:chExt cx="15119349" cy="1921524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xmlns="" id="{51619670-5547-299F-B38F-B20BCE647BC6}"/>
                  </a:ext>
                </a:extLst>
              </p:cNvPr>
              <p:cNvSpPr/>
              <p:nvPr/>
            </p:nvSpPr>
            <p:spPr>
              <a:xfrm>
                <a:off x="2447778" y="0"/>
                <a:ext cx="6668087" cy="78779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xmlns="" id="{D6539F6D-91EA-AE7C-6B30-52722893C40C}"/>
                  </a:ext>
                </a:extLst>
              </p:cNvPr>
              <p:cNvSpPr/>
              <p:nvPr/>
            </p:nvSpPr>
            <p:spPr>
              <a:xfrm>
                <a:off x="2447567" y="787791"/>
                <a:ext cx="6668087" cy="113211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xmlns="" id="{977B3492-9387-EE02-EB22-A3497FC6D093}"/>
                  </a:ext>
                </a:extLst>
              </p:cNvPr>
              <p:cNvSpPr/>
              <p:nvPr/>
            </p:nvSpPr>
            <p:spPr>
              <a:xfrm>
                <a:off x="9115654" y="0"/>
                <a:ext cx="2251041" cy="191990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xmlns="" id="{E943B13D-8796-87D0-C5E4-C9C404EE124D}"/>
                  </a:ext>
                </a:extLst>
              </p:cNvPr>
              <p:cNvSpPr/>
              <p:nvPr/>
            </p:nvSpPr>
            <p:spPr>
              <a:xfrm>
                <a:off x="11366695" y="-1616"/>
                <a:ext cx="3752655" cy="78779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xmlns="" id="{A4EB31FF-7E3B-0FCE-60A1-14AC2D13B91D}"/>
                  </a:ext>
                </a:extLst>
              </p:cNvPr>
              <p:cNvSpPr/>
              <p:nvPr/>
            </p:nvSpPr>
            <p:spPr>
              <a:xfrm>
                <a:off x="11366694" y="786175"/>
                <a:ext cx="3752655" cy="113373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xmlns="" id="{7C5E57C6-1CCC-5A94-EF86-D00216D2E9C8}"/>
                  </a:ext>
                </a:extLst>
              </p:cNvPr>
              <p:cNvSpPr/>
              <p:nvPr/>
            </p:nvSpPr>
            <p:spPr>
              <a:xfrm>
                <a:off x="1" y="0"/>
                <a:ext cx="2446916" cy="191990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xmlns="" id="{11B53426-1C98-279D-04CE-518687D076A8}"/>
                </a:ext>
              </a:extLst>
            </p:cNvPr>
            <p:cNvSpPr txBox="1"/>
            <p:nvPr/>
          </p:nvSpPr>
          <p:spPr>
            <a:xfrm>
              <a:off x="2446917" y="21481"/>
              <a:ext cx="665043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GB" sz="2000" b="1" dirty="0" smtClean="0"/>
                <a:t>TROMSØ Airfield, REDLAND</a:t>
              </a:r>
              <a:endParaRPr lang="en-GB" sz="2000" b="1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C03D2C18-0075-54F4-470F-8838BC744C27}"/>
                </a:ext>
              </a:extLst>
            </p:cNvPr>
            <p:cNvSpPr txBox="1"/>
            <p:nvPr/>
          </p:nvSpPr>
          <p:spPr>
            <a:xfrm>
              <a:off x="2429057" y="945322"/>
              <a:ext cx="3621504" cy="78483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lvl="0"/>
              <a:r>
                <a:rPr lang="en-GB" sz="1500" b="1" dirty="0" smtClean="0"/>
                <a:t>BE: TRMATGT004  CATCODE: 3</a:t>
              </a:r>
            </a:p>
            <a:p>
              <a:pPr lvl="0"/>
              <a:r>
                <a:rPr lang="en-GB" sz="1500" b="1" dirty="0" smtClean="0"/>
                <a:t>MIDB GEO: </a:t>
              </a:r>
              <a:r>
                <a:rPr lang="pt-BR" sz="1500" b="1" dirty="0" smtClean="0"/>
                <a:t>N69˚40.800 E018˚55.800</a:t>
              </a:r>
              <a:endParaRPr lang="en-GB" sz="1500" b="1" dirty="0" smtClean="0"/>
            </a:p>
            <a:p>
              <a:pPr lvl="0"/>
              <a:r>
                <a:rPr lang="en-GB" sz="1500" b="1" dirty="0" smtClean="0"/>
                <a:t>ICOD</a:t>
              </a:r>
              <a:r>
                <a:rPr lang="en-GB" sz="1500" b="1" dirty="0" smtClean="0"/>
                <a:t>: 2011-JUL-06 DOI:2011-JUL-06</a:t>
              </a:r>
              <a:endParaRPr lang="en-GB" sz="1500" b="1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D78469F3-04C3-CFEE-24B0-6908C4CDEF3B}"/>
                </a:ext>
              </a:extLst>
            </p:cNvPr>
            <p:cNvSpPr txBox="1"/>
            <p:nvPr/>
          </p:nvSpPr>
          <p:spPr>
            <a:xfrm>
              <a:off x="11364760" y="79905"/>
              <a:ext cx="3752655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/>
              <a:r>
                <a:rPr lang="en-GB" sz="2000" b="1" dirty="0" smtClean="0"/>
                <a:t>TRMA CLASSIFIED</a:t>
              </a:r>
              <a:br>
                <a:rPr lang="en-GB" sz="2000" b="1" dirty="0" smtClean="0"/>
              </a:br>
              <a:r>
                <a:rPr lang="en-GB" sz="2000" b="1" dirty="0" smtClean="0"/>
                <a:t>REL TO 132nd</a:t>
              </a:r>
              <a:endParaRPr lang="en-GB" sz="2000" b="1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A323C3DF-CF14-897A-8183-09F9E01C7575}"/>
                </a:ext>
              </a:extLst>
            </p:cNvPr>
            <p:cNvSpPr txBox="1"/>
            <p:nvPr/>
          </p:nvSpPr>
          <p:spPr>
            <a:xfrm>
              <a:off x="11347323" y="1112228"/>
              <a:ext cx="37700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/>
                <a:t>DECL ON: 2061-JUL-06</a:t>
              </a:r>
            </a:p>
          </p:txBody>
        </p:sp>
        <p:pic>
          <p:nvPicPr>
            <p:cNvPr id="48" name="Picture 47" descr="D:\GIT PROJECTS\OPAT-background\Virtual Intelligence Service only logo.PNG">
              <a:extLst>
                <a:ext uri="{FF2B5EF4-FFF2-40B4-BE49-F238E27FC236}">
                  <a16:creationId xmlns:a16="http://schemas.microsoft.com/office/drawing/2014/main" xmlns="" id="{AE0C555D-2C3C-0A39-99A4-FB1FE40A6D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8686" y="21695"/>
              <a:ext cx="2225675" cy="1958975"/>
            </a:xfrm>
            <a:prstGeom prst="rect">
              <a:avLst/>
            </a:prstGeom>
            <a:noFill/>
          </p:spPr>
        </p:pic>
      </p:grpSp>
      <p:sp>
        <p:nvSpPr>
          <p:cNvPr id="257" name="Google Shape;257;p26"/>
          <p:cNvSpPr/>
          <p:nvPr/>
        </p:nvSpPr>
        <p:spPr>
          <a:xfrm>
            <a:off x="7941200" y="1907025"/>
            <a:ext cx="7179000" cy="4173600"/>
          </a:xfrm>
          <a:prstGeom prst="rect">
            <a:avLst/>
          </a:prstGeom>
          <a:solidFill>
            <a:srgbClr val="EEEEE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1" name="Google Shape;261;p26"/>
          <p:cNvGrpSpPr/>
          <p:nvPr/>
        </p:nvGrpSpPr>
        <p:grpSpPr>
          <a:xfrm>
            <a:off x="1522925" y="4158450"/>
            <a:ext cx="4103108" cy="2016000"/>
            <a:chOff x="3671523" y="6965375"/>
            <a:chExt cx="1459350" cy="2016000"/>
          </a:xfrm>
        </p:grpSpPr>
        <p:sp>
          <p:nvSpPr>
            <p:cNvPr id="262" name="Google Shape;262;p26"/>
            <p:cNvSpPr txBox="1"/>
            <p:nvPr/>
          </p:nvSpPr>
          <p:spPr>
            <a:xfrm>
              <a:off x="3671523" y="6965375"/>
              <a:ext cx="1166100" cy="6759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b="1">
                  <a:solidFill>
                    <a:schemeClr val="dk1"/>
                  </a:solidFill>
                </a:rPr>
                <a:t>TARGET OBJECTIVE</a:t>
              </a:r>
              <a:endParaRPr b="1">
                <a:solidFill>
                  <a:schemeClr val="dk1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b="1">
                  <a:solidFill>
                    <a:schemeClr val="dk1"/>
                  </a:solidFill>
                </a:rPr>
                <a:t>DAMAGE/CHANGE ASSESSMENT</a:t>
              </a:r>
              <a:endParaRPr b="1">
                <a:solidFill>
                  <a:schemeClr val="dk1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b="1">
                  <a:solidFill>
                    <a:schemeClr val="dk1"/>
                  </a:solidFill>
                </a:rPr>
                <a:t>JDPI:[XXXXXX]</a:t>
              </a:r>
              <a:endParaRPr b="1">
                <a:solidFill>
                  <a:schemeClr val="dk1"/>
                </a:solidFill>
              </a:endParaRPr>
            </a:p>
          </p:txBody>
        </p:sp>
        <p:cxnSp>
          <p:nvCxnSpPr>
            <p:cNvPr id="263" name="Google Shape;263;p26"/>
            <p:cNvCxnSpPr>
              <a:stCxn id="262" idx="2"/>
            </p:cNvCxnSpPr>
            <p:nvPr/>
          </p:nvCxnSpPr>
          <p:spPr>
            <a:xfrm>
              <a:off x="4254573" y="7641275"/>
              <a:ext cx="876300" cy="1340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64" name="Google Shape;264;p26"/>
          <p:cNvSpPr txBox="1"/>
          <p:nvPr/>
        </p:nvSpPr>
        <p:spPr>
          <a:xfrm>
            <a:off x="3185950" y="10077413"/>
            <a:ext cx="11933400" cy="614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b="1" dirty="0"/>
              <a:t>BDA REMARK: [CLASSIFICATION] [DISSEMINATION]</a:t>
            </a:r>
            <a:r>
              <a:rPr lang="fr" b="1" dirty="0"/>
              <a:t> </a:t>
            </a:r>
            <a:r>
              <a:rPr lang="fr" dirty="0"/>
              <a:t>Assessment: Physical Damage/change, Collateral Damage, Functional Damage/change, Munitions Effectiveness, Reattack Recommendation, Additional/Collateral Effects</a:t>
            </a:r>
            <a:endParaRPr dirty="0"/>
          </a:p>
        </p:txBody>
      </p:sp>
      <p:sp>
        <p:nvSpPr>
          <p:cNvPr id="267" name="Google Shape;267;p26"/>
          <p:cNvSpPr txBox="1"/>
          <p:nvPr/>
        </p:nvSpPr>
        <p:spPr>
          <a:xfrm>
            <a:off x="11309400" y="1998525"/>
            <a:ext cx="1620000" cy="5022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b="1">
                <a:solidFill>
                  <a:schemeClr val="dk1"/>
                </a:solidFill>
              </a:rPr>
              <a:t>PRE-STRIKE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268" name="Google Shape;268;p26"/>
          <p:cNvSpPr txBox="1"/>
          <p:nvPr/>
        </p:nvSpPr>
        <p:spPr>
          <a:xfrm>
            <a:off x="5392275" y="1998525"/>
            <a:ext cx="1620000" cy="5022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b="1">
                <a:solidFill>
                  <a:schemeClr val="dk1"/>
                </a:solidFill>
              </a:rPr>
              <a:t>POST-STRIKE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4C0EAB3D-E78C-3EC1-3F6D-1B1996B370B8}"/>
              </a:ext>
            </a:extLst>
          </p:cNvPr>
          <p:cNvSpPr txBox="1"/>
          <p:nvPr/>
        </p:nvSpPr>
        <p:spPr>
          <a:xfrm>
            <a:off x="2429057" y="369918"/>
            <a:ext cx="66663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/>
              <a:t>BATTLE DAMAGE ASSESSMENT GRAPHIC 1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13C719B4-97F8-5764-F8F0-2B6C7D4D0382}"/>
              </a:ext>
            </a:extLst>
          </p:cNvPr>
          <p:cNvGrpSpPr/>
          <p:nvPr/>
        </p:nvGrpSpPr>
        <p:grpSpPr>
          <a:xfrm rot="21146639">
            <a:off x="151810" y="2313407"/>
            <a:ext cx="559046" cy="692832"/>
            <a:chOff x="15526400" y="3343535"/>
            <a:chExt cx="1172983" cy="132452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xmlns="" id="{A0772E08-9B0B-730C-D572-9BA5900DAE3F}"/>
                </a:ext>
              </a:extLst>
            </p:cNvPr>
            <p:cNvSpPr/>
            <p:nvPr/>
          </p:nvSpPr>
          <p:spPr>
            <a:xfrm>
              <a:off x="15526400" y="3343535"/>
              <a:ext cx="1172983" cy="1324523"/>
            </a:xfrm>
            <a:custGeom>
              <a:avLst/>
              <a:gdLst>
                <a:gd name="connsiteX0" fmla="*/ 351692 w 731520"/>
                <a:gd name="connsiteY0" fmla="*/ 0 h 858129"/>
                <a:gd name="connsiteX1" fmla="*/ 0 w 731520"/>
                <a:gd name="connsiteY1" fmla="*/ 858129 h 858129"/>
                <a:gd name="connsiteX2" fmla="*/ 337624 w 731520"/>
                <a:gd name="connsiteY2" fmla="*/ 647114 h 858129"/>
                <a:gd name="connsiteX3" fmla="*/ 731520 w 731520"/>
                <a:gd name="connsiteY3" fmla="*/ 844061 h 858129"/>
                <a:gd name="connsiteX4" fmla="*/ 351692 w 731520"/>
                <a:gd name="connsiteY4" fmla="*/ 0 h 858129"/>
                <a:gd name="connsiteX0" fmla="*/ 394761 w 731520"/>
                <a:gd name="connsiteY0" fmla="*/ 0 h 992212"/>
                <a:gd name="connsiteX1" fmla="*/ 0 w 731520"/>
                <a:gd name="connsiteY1" fmla="*/ 992212 h 992212"/>
                <a:gd name="connsiteX2" fmla="*/ 337624 w 731520"/>
                <a:gd name="connsiteY2" fmla="*/ 781197 h 992212"/>
                <a:gd name="connsiteX3" fmla="*/ 731520 w 731520"/>
                <a:gd name="connsiteY3" fmla="*/ 978144 h 992212"/>
                <a:gd name="connsiteX4" fmla="*/ 394761 w 731520"/>
                <a:gd name="connsiteY4" fmla="*/ 0 h 992212"/>
                <a:gd name="connsiteX0" fmla="*/ 383994 w 731520"/>
                <a:gd name="connsiteY0" fmla="*/ 0 h 992212"/>
                <a:gd name="connsiteX1" fmla="*/ 0 w 731520"/>
                <a:gd name="connsiteY1" fmla="*/ 992212 h 992212"/>
                <a:gd name="connsiteX2" fmla="*/ 337624 w 731520"/>
                <a:gd name="connsiteY2" fmla="*/ 781197 h 992212"/>
                <a:gd name="connsiteX3" fmla="*/ 731520 w 731520"/>
                <a:gd name="connsiteY3" fmla="*/ 978144 h 992212"/>
                <a:gd name="connsiteX4" fmla="*/ 383994 w 731520"/>
                <a:gd name="connsiteY4" fmla="*/ 0 h 992212"/>
                <a:gd name="connsiteX0" fmla="*/ 383994 w 957635"/>
                <a:gd name="connsiteY0" fmla="*/ 0 h 1313351"/>
                <a:gd name="connsiteX1" fmla="*/ 0 w 957635"/>
                <a:gd name="connsiteY1" fmla="*/ 992212 h 1313351"/>
                <a:gd name="connsiteX2" fmla="*/ 337624 w 957635"/>
                <a:gd name="connsiteY2" fmla="*/ 781197 h 1313351"/>
                <a:gd name="connsiteX3" fmla="*/ 957635 w 957635"/>
                <a:gd name="connsiteY3" fmla="*/ 1313351 h 1313351"/>
                <a:gd name="connsiteX4" fmla="*/ 383994 w 957635"/>
                <a:gd name="connsiteY4" fmla="*/ 0 h 1313351"/>
                <a:gd name="connsiteX0" fmla="*/ 599342 w 1172983"/>
                <a:gd name="connsiteY0" fmla="*/ 0 h 1313351"/>
                <a:gd name="connsiteX1" fmla="*/ 0 w 1172983"/>
                <a:gd name="connsiteY1" fmla="*/ 1305071 h 1313351"/>
                <a:gd name="connsiteX2" fmla="*/ 552972 w 1172983"/>
                <a:gd name="connsiteY2" fmla="*/ 781197 h 1313351"/>
                <a:gd name="connsiteX3" fmla="*/ 1172983 w 1172983"/>
                <a:gd name="connsiteY3" fmla="*/ 1313351 h 1313351"/>
                <a:gd name="connsiteX4" fmla="*/ 599342 w 1172983"/>
                <a:gd name="connsiteY4" fmla="*/ 0 h 1313351"/>
                <a:gd name="connsiteX0" fmla="*/ 599342 w 1172983"/>
                <a:gd name="connsiteY0" fmla="*/ 0 h 1313351"/>
                <a:gd name="connsiteX1" fmla="*/ 0 w 1172983"/>
                <a:gd name="connsiteY1" fmla="*/ 1305071 h 1313351"/>
                <a:gd name="connsiteX2" fmla="*/ 574507 w 1172983"/>
                <a:gd name="connsiteY2" fmla="*/ 982322 h 1313351"/>
                <a:gd name="connsiteX3" fmla="*/ 1172983 w 1172983"/>
                <a:gd name="connsiteY3" fmla="*/ 1313351 h 1313351"/>
                <a:gd name="connsiteX4" fmla="*/ 599342 w 1172983"/>
                <a:gd name="connsiteY4" fmla="*/ 0 h 1313351"/>
                <a:gd name="connsiteX0" fmla="*/ 599342 w 1172983"/>
                <a:gd name="connsiteY0" fmla="*/ 0 h 1302177"/>
                <a:gd name="connsiteX1" fmla="*/ 0 w 1172983"/>
                <a:gd name="connsiteY1" fmla="*/ 1293897 h 1302177"/>
                <a:gd name="connsiteX2" fmla="*/ 574507 w 1172983"/>
                <a:gd name="connsiteY2" fmla="*/ 971148 h 1302177"/>
                <a:gd name="connsiteX3" fmla="*/ 1172983 w 1172983"/>
                <a:gd name="connsiteY3" fmla="*/ 1302177 h 1302177"/>
                <a:gd name="connsiteX4" fmla="*/ 599342 w 1172983"/>
                <a:gd name="connsiteY4" fmla="*/ 0 h 1302177"/>
                <a:gd name="connsiteX0" fmla="*/ 599342 w 1172983"/>
                <a:gd name="connsiteY0" fmla="*/ 0 h 1302177"/>
                <a:gd name="connsiteX1" fmla="*/ 0 w 1172983"/>
                <a:gd name="connsiteY1" fmla="*/ 1293897 h 1302177"/>
                <a:gd name="connsiteX2" fmla="*/ 574507 w 1172983"/>
                <a:gd name="connsiteY2" fmla="*/ 971148 h 1302177"/>
                <a:gd name="connsiteX3" fmla="*/ 1172983 w 1172983"/>
                <a:gd name="connsiteY3" fmla="*/ 1302177 h 1302177"/>
                <a:gd name="connsiteX4" fmla="*/ 599342 w 1172983"/>
                <a:gd name="connsiteY4" fmla="*/ 0 h 1302177"/>
                <a:gd name="connsiteX0" fmla="*/ 567040 w 1172983"/>
                <a:gd name="connsiteY0" fmla="*/ 0 h 1302177"/>
                <a:gd name="connsiteX1" fmla="*/ 0 w 1172983"/>
                <a:gd name="connsiteY1" fmla="*/ 1293897 h 1302177"/>
                <a:gd name="connsiteX2" fmla="*/ 574507 w 1172983"/>
                <a:gd name="connsiteY2" fmla="*/ 971148 h 1302177"/>
                <a:gd name="connsiteX3" fmla="*/ 1172983 w 1172983"/>
                <a:gd name="connsiteY3" fmla="*/ 1302177 h 1302177"/>
                <a:gd name="connsiteX4" fmla="*/ 567040 w 1172983"/>
                <a:gd name="connsiteY4" fmla="*/ 0 h 1302177"/>
                <a:gd name="connsiteX0" fmla="*/ 567040 w 1172983"/>
                <a:gd name="connsiteY0" fmla="*/ 0 h 1291003"/>
                <a:gd name="connsiteX1" fmla="*/ 0 w 1172983"/>
                <a:gd name="connsiteY1" fmla="*/ 1282723 h 1291003"/>
                <a:gd name="connsiteX2" fmla="*/ 574507 w 1172983"/>
                <a:gd name="connsiteY2" fmla="*/ 959974 h 1291003"/>
                <a:gd name="connsiteX3" fmla="*/ 1172983 w 1172983"/>
                <a:gd name="connsiteY3" fmla="*/ 1291003 h 1291003"/>
                <a:gd name="connsiteX4" fmla="*/ 567040 w 1172983"/>
                <a:gd name="connsiteY4" fmla="*/ 0 h 1291003"/>
                <a:gd name="connsiteX0" fmla="*/ 577807 w 1172983"/>
                <a:gd name="connsiteY0" fmla="*/ 0 h 1190441"/>
                <a:gd name="connsiteX1" fmla="*/ 0 w 1172983"/>
                <a:gd name="connsiteY1" fmla="*/ 1182161 h 1190441"/>
                <a:gd name="connsiteX2" fmla="*/ 574507 w 1172983"/>
                <a:gd name="connsiteY2" fmla="*/ 859412 h 1190441"/>
                <a:gd name="connsiteX3" fmla="*/ 1172983 w 1172983"/>
                <a:gd name="connsiteY3" fmla="*/ 1190441 h 1190441"/>
                <a:gd name="connsiteX4" fmla="*/ 577807 w 1172983"/>
                <a:gd name="connsiteY4" fmla="*/ 0 h 1190441"/>
                <a:gd name="connsiteX0" fmla="*/ 577807 w 1172983"/>
                <a:gd name="connsiteY0" fmla="*/ 0 h 933449"/>
                <a:gd name="connsiteX1" fmla="*/ 0 w 1172983"/>
                <a:gd name="connsiteY1" fmla="*/ 925169 h 933449"/>
                <a:gd name="connsiteX2" fmla="*/ 574507 w 1172983"/>
                <a:gd name="connsiteY2" fmla="*/ 602420 h 933449"/>
                <a:gd name="connsiteX3" fmla="*/ 1172983 w 1172983"/>
                <a:gd name="connsiteY3" fmla="*/ 933449 h 933449"/>
                <a:gd name="connsiteX4" fmla="*/ 577807 w 1172983"/>
                <a:gd name="connsiteY4" fmla="*/ 0 h 933449"/>
                <a:gd name="connsiteX0" fmla="*/ 599342 w 1172983"/>
                <a:gd name="connsiteY0" fmla="*/ 0 h 1324524"/>
                <a:gd name="connsiteX1" fmla="*/ 0 w 1172983"/>
                <a:gd name="connsiteY1" fmla="*/ 1316244 h 1324524"/>
                <a:gd name="connsiteX2" fmla="*/ 574507 w 1172983"/>
                <a:gd name="connsiteY2" fmla="*/ 993495 h 1324524"/>
                <a:gd name="connsiteX3" fmla="*/ 1172983 w 1172983"/>
                <a:gd name="connsiteY3" fmla="*/ 1324524 h 1324524"/>
                <a:gd name="connsiteX4" fmla="*/ 599342 w 1172983"/>
                <a:gd name="connsiteY4" fmla="*/ 0 h 1324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2983" h="1324524">
                  <a:moveTo>
                    <a:pt x="599342" y="0"/>
                  </a:moveTo>
                  <a:lnTo>
                    <a:pt x="0" y="1316244"/>
                  </a:lnTo>
                  <a:lnTo>
                    <a:pt x="574507" y="993495"/>
                  </a:lnTo>
                  <a:lnTo>
                    <a:pt x="1172983" y="1324524"/>
                  </a:lnTo>
                  <a:lnTo>
                    <a:pt x="599342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Google Shape;66;p14">
              <a:extLst>
                <a:ext uri="{FF2B5EF4-FFF2-40B4-BE49-F238E27FC236}">
                  <a16:creationId xmlns:a16="http://schemas.microsoft.com/office/drawing/2014/main" xmlns="" id="{1F444BAD-F0CB-0673-9B76-16E735BF503A}"/>
                </a:ext>
              </a:extLst>
            </p:cNvPr>
            <p:cNvSpPr txBox="1"/>
            <p:nvPr/>
          </p:nvSpPr>
          <p:spPr>
            <a:xfrm>
              <a:off x="15716513" y="3587815"/>
              <a:ext cx="502201" cy="6498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2400" b="1" dirty="0">
                  <a:solidFill>
                    <a:sysClr val="windowText" lastClr="000000"/>
                  </a:solidFill>
                </a:rPr>
                <a:t>N</a:t>
              </a:r>
              <a:endParaRPr sz="2400" b="1" dirty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131311" y="19456"/>
            <a:ext cx="2220868" cy="189742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31" name="Rektangel 11">
            <a:extLst>
              <a:ext uri="{FF2B5EF4-FFF2-40B4-BE49-F238E27FC236}">
                <a16:creationId xmlns:a16="http://schemas.microsoft.com/office/drawing/2014/main" xmlns="" id="{FF272179-214C-058E-FD42-C186C1307BBA}"/>
              </a:ext>
            </a:extLst>
          </p:cNvPr>
          <p:cNvSpPr/>
          <p:nvPr/>
        </p:nvSpPr>
        <p:spPr>
          <a:xfrm flipV="1">
            <a:off x="9976566" y="469404"/>
            <a:ext cx="139449" cy="14968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"/>
          <p:cNvSpPr txBox="1"/>
          <p:nvPr/>
        </p:nvSpPr>
        <p:spPr>
          <a:xfrm>
            <a:off x="0" y="51275"/>
            <a:ext cx="15120000" cy="18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200" b="1" u="sng">
                <a:solidFill>
                  <a:schemeClr val="dk1"/>
                </a:solidFill>
              </a:rPr>
              <a:t>ACRONYMS</a:t>
            </a:r>
            <a:endParaRPr sz="4200" b="1" u="sng">
              <a:solidFill>
                <a:schemeClr val="dk1"/>
              </a:solidFill>
            </a:endParaRPr>
          </a:p>
        </p:txBody>
      </p:sp>
      <p:graphicFrame>
        <p:nvGraphicFramePr>
          <p:cNvPr id="275" name="Google Shape;275;p27"/>
          <p:cNvGraphicFramePr/>
          <p:nvPr>
            <p:extLst>
              <p:ext uri="{D42A27DB-BD31-4B8C-83A1-F6EECF244321}">
                <p14:modId xmlns:p14="http://schemas.microsoft.com/office/powerpoint/2010/main" xmlns="" val="4015723090"/>
              </p:ext>
            </p:extLst>
          </p:nvPr>
        </p:nvGraphicFramePr>
        <p:xfrm>
          <a:off x="952500" y="2088750"/>
          <a:ext cx="13215000" cy="8173050"/>
        </p:xfrm>
        <a:graphic>
          <a:graphicData uri="http://schemas.openxmlformats.org/drawingml/2006/table">
            <a:tbl>
              <a:tblPr>
                <a:noFill/>
                <a:tableStyleId>{AE7EAA58-4EDA-4114-B047-75ABB572CC32}</a:tableStyleId>
              </a:tblPr>
              <a:tblGrid>
                <a:gridCol w="21709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2846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7594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 b="1">
                          <a:solidFill>
                            <a:schemeClr val="lt1"/>
                          </a:solidFill>
                        </a:rPr>
                        <a:t>ACRONYM</a:t>
                      </a: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 b="1">
                          <a:solidFill>
                            <a:schemeClr val="lt1"/>
                          </a:solidFill>
                        </a:rPr>
                        <a:t>MEANING</a:t>
                      </a: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 b="1">
                          <a:solidFill>
                            <a:schemeClr val="lt1"/>
                          </a:solidFill>
                        </a:rPr>
                        <a:t>DEFINITION</a:t>
                      </a: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BE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b="1">
                          <a:solidFill>
                            <a:schemeClr val="dk1"/>
                          </a:solidFill>
                        </a:rPr>
                        <a:t>Basic Encyclopedia Number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Alpha/numeric code unique to an installation for incorporation within various national and tactical systems.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4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CATCODE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Category Code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The data Element that classifies the function and purpose of an installation or a facility.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4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MIDB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Modernized Integrated Database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A database comprised of information on facilities of military significance, military forces, and related equipment. 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4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ICOD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b="1">
                          <a:solidFill>
                            <a:schemeClr val="dk1"/>
                          </a:solidFill>
                        </a:rPr>
                        <a:t>Intelligence Cut Off Date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The date of the latest intelligence data inputted to a feature.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4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DOI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Date of Image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Date on which a geospatial or intelligence-related image was captured.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4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CE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Critical Element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An element of an entity or object that enables it to perform its primary function.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4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JDPI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Joint Desired Point of Impact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dirty="0"/>
                        <a:t>A unique, alphanumeric coded aimpoint identified by a three dimensional mensurated point. It represents a weapon or capability desired point of impact or penetration.</a:t>
                      </a:r>
                      <a:endParaRPr sz="1200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4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CE90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Circular Error at 90%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90 percent confidence level in the horizontal plane.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4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LE90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Linear Error at 90%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200">
                          <a:solidFill>
                            <a:schemeClr val="dk1"/>
                          </a:solidFill>
                        </a:rPr>
                        <a:t>90 percent confidence level in the vertical dimension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44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MSL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Mean Sea Level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Elevation above Earth reference geoid.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44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AGL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Above Ground Level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Elevation above ground surface.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4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NCC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Nearest Collateral Concern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Closest non-targeted structure, area, or entity near a planned point of impact that may be at risk of unintended damage during a military strike.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44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CER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Collateral effects radius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Radius within which collateral damage might happen based on the weapon's characteristics, the target environment, and other operational factors.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44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CDE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Collateral damage estimate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Systematic process used in military targeting to evaluate the potential for unintended damage or harm to non-combatant entities, structures, or personnel as a result of a planned strike.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44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NSE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/>
                        <a:t>No Strike Element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dirty="0"/>
                        <a:t>Specific entities, locations, or objects that are protected from intentional targeting under the Law of Armed Conflict (LOAC) or by operational policy.</a:t>
                      </a:r>
                      <a:endParaRPr sz="1200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</a:tbl>
          </a:graphicData>
        </a:graphic>
      </p:graphicFrame>
      <p:pic>
        <p:nvPicPr>
          <p:cNvPr id="2" name="Picture 1" descr="D:\GIT PROJECTS\OPAT-background\Virtual Intelligence Service only logo.PNG">
            <a:extLst>
              <a:ext uri="{FF2B5EF4-FFF2-40B4-BE49-F238E27FC236}">
                <a16:creationId xmlns:a16="http://schemas.microsoft.com/office/drawing/2014/main" xmlns="" id="{A350AAC5-07E1-6E5B-A968-8192E0A19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8686" y="21695"/>
            <a:ext cx="2225675" cy="195897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1033</Words>
  <Application>Microsoft Office PowerPoint</Application>
  <PresentationFormat>Egendefinert</PresentationFormat>
  <Paragraphs>257</Paragraphs>
  <Slides>10</Slides>
  <Notes>10</Notes>
  <HiddenSlides>2</HiddenSlides>
  <MMClips>0</MMClips>
  <ScaleCrop>false</ScaleCrop>
  <HeadingPairs>
    <vt:vector size="6" baseType="variant">
      <vt:variant>
        <vt:lpstr>Brukte skrifter</vt:lpstr>
      </vt:variant>
      <vt:variant>
        <vt:i4>1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TARGET FOLDER  TRMATGT004   TROMSØ Airfield, REDLAND</vt:lpstr>
      <vt:lpstr>Lysbilde 2</vt:lpstr>
      <vt:lpstr>Lysbilde 3</vt:lpstr>
      <vt:lpstr>Lysbilde 4</vt:lpstr>
      <vt:lpstr>Lysbilde 5</vt:lpstr>
      <vt:lpstr>Lysbilde 6</vt:lpstr>
      <vt:lpstr>Lysbilde 7</vt:lpstr>
      <vt:lpstr>Lysbilde 8</vt:lpstr>
      <vt:lpstr>Lysbilde 9</vt:lpstr>
      <vt:lpstr>Lysbilde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TRMATGT004_TROMSO Airfield</dc:title>
  <dc:subject>TRMATGT004_TROMSO Airfield</dc:subject>
  <dc:creator>132nd Virtual Wing;VIS</dc:creator>
  <cp:lastModifiedBy>Neck</cp:lastModifiedBy>
  <cp:revision>16</cp:revision>
  <dcterms:modified xsi:type="dcterms:W3CDTF">2026-09-28T18:43:30Z</dcterms:modified>
</cp:coreProperties>
</file>